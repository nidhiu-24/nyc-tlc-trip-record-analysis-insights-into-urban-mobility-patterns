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Cooper BT Light" panose="020B0604020202020204" charset="0"/>
      <p:regular r:id="rId27"/>
    </p:embeddedFont>
    <p:embeddedFont>
      <p:font typeface="Vollkorn" panose="020B0604020202020204" charset="0"/>
      <p:regular r:id="rId28"/>
    </p:embeddedFont>
    <p:embeddedFont>
      <p:font typeface="Vollkorn Bold" panose="020B0604020202020204" charset="0"/>
      <p:regular r:id="rId29"/>
    </p:embeddedFont>
    <p:embeddedFont>
      <p:font typeface="Vollkorn Semi-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46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17.04.2025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svg"/><Relationship Id="rId3" Type="http://schemas.openxmlformats.org/officeDocument/2006/relationships/image" Target="../media/image4.png"/><Relationship Id="rId7" Type="http://schemas.openxmlformats.org/officeDocument/2006/relationships/image" Target="../media/image30.svg"/><Relationship Id="rId12"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png"/><Relationship Id="rId7" Type="http://schemas.openxmlformats.org/officeDocument/2006/relationships/image" Target="../media/image44.png"/><Relationship Id="rId12" Type="http://schemas.openxmlformats.org/officeDocument/2006/relationships/image" Target="../media/image49.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3.sv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png"/><Relationship Id="rId9"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21.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4.png"/><Relationship Id="rId7"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png"/><Relationship Id="rId9" Type="http://schemas.openxmlformats.org/officeDocument/2006/relationships/image" Target="../media/image6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0.sv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sv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0499"/>
            </a:blip>
            <a:stretch>
              <a:fillRect t="-76328" b="-1448"/>
            </a:stretch>
          </a:blipFill>
        </p:spPr>
        <p:txBody>
          <a:bodyPr/>
          <a:lstStyle/>
          <a:p>
            <a:endParaRPr lang="en-US"/>
          </a:p>
        </p:txBody>
      </p:sp>
      <p:grpSp>
        <p:nvGrpSpPr>
          <p:cNvPr id="3" name="Group 3"/>
          <p:cNvGrpSpPr/>
          <p:nvPr/>
        </p:nvGrpSpPr>
        <p:grpSpPr>
          <a:xfrm>
            <a:off x="399772" y="399774"/>
            <a:ext cx="17488455" cy="9487450"/>
            <a:chOff x="0" y="0"/>
            <a:chExt cx="23317940" cy="12649934"/>
          </a:xfrm>
        </p:grpSpPr>
        <p:sp>
          <p:nvSpPr>
            <p:cNvPr id="4" name="Freeform 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446777"/>
            </a:solidFill>
          </p:spPr>
          <p:txBody>
            <a:bodyPr/>
            <a:lstStyle/>
            <a:p>
              <a:endParaRPr lang="en-US"/>
            </a:p>
          </p:txBody>
        </p:sp>
      </p:grpSp>
      <p:sp>
        <p:nvSpPr>
          <p:cNvPr id="5" name="Freeform 5"/>
          <p:cNvSpPr/>
          <p:nvPr/>
        </p:nvSpPr>
        <p:spPr>
          <a:xfrm>
            <a:off x="441255" y="399774"/>
            <a:ext cx="17446972" cy="4776109"/>
          </a:xfrm>
          <a:custGeom>
            <a:avLst/>
            <a:gdLst/>
            <a:ahLst/>
            <a:cxnLst/>
            <a:rect l="l" t="t" r="r" b="b"/>
            <a:pathLst>
              <a:path w="17446972" h="4776109">
                <a:moveTo>
                  <a:pt x="0" y="0"/>
                </a:moveTo>
                <a:lnTo>
                  <a:pt x="17446973" y="0"/>
                </a:lnTo>
                <a:lnTo>
                  <a:pt x="17446973" y="4776109"/>
                </a:lnTo>
                <a:lnTo>
                  <a:pt x="0" y="4776109"/>
                </a:lnTo>
                <a:lnTo>
                  <a:pt x="0" y="0"/>
                </a:lnTo>
                <a:close/>
              </a:path>
            </a:pathLst>
          </a:custGeom>
          <a:blipFill>
            <a:blip r:embed="rId4">
              <a:alphaModFix amt="15000"/>
            </a:blip>
            <a:stretch>
              <a:fillRect/>
            </a:stretch>
          </a:blipFill>
        </p:spPr>
        <p:txBody>
          <a:bodyPr/>
          <a:lstStyle/>
          <a:p>
            <a:endParaRPr lang="en-US"/>
          </a:p>
        </p:txBody>
      </p:sp>
      <p:grpSp>
        <p:nvGrpSpPr>
          <p:cNvPr id="6" name="Group 6"/>
          <p:cNvGrpSpPr/>
          <p:nvPr/>
        </p:nvGrpSpPr>
        <p:grpSpPr>
          <a:xfrm>
            <a:off x="1028700" y="1538699"/>
            <a:ext cx="16230600" cy="2444850"/>
            <a:chOff x="0" y="0"/>
            <a:chExt cx="21640800" cy="3259800"/>
          </a:xfrm>
        </p:grpSpPr>
        <p:sp>
          <p:nvSpPr>
            <p:cNvPr id="7" name="Freeform 7"/>
            <p:cNvSpPr/>
            <p:nvPr/>
          </p:nvSpPr>
          <p:spPr>
            <a:xfrm>
              <a:off x="0" y="0"/>
              <a:ext cx="21640800" cy="3259800"/>
            </a:xfrm>
            <a:custGeom>
              <a:avLst/>
              <a:gdLst/>
              <a:ahLst/>
              <a:cxnLst/>
              <a:rect l="l" t="t" r="r" b="b"/>
              <a:pathLst>
                <a:path w="21640800" h="3259800">
                  <a:moveTo>
                    <a:pt x="0" y="0"/>
                  </a:moveTo>
                  <a:lnTo>
                    <a:pt x="21640800" y="0"/>
                  </a:lnTo>
                  <a:lnTo>
                    <a:pt x="21640800" y="3259800"/>
                  </a:lnTo>
                  <a:lnTo>
                    <a:pt x="0" y="3259800"/>
                  </a:lnTo>
                  <a:close/>
                </a:path>
              </a:pathLst>
            </a:custGeom>
            <a:solidFill>
              <a:srgbClr val="000000">
                <a:alpha val="0"/>
              </a:srgbClr>
            </a:solidFill>
          </p:spPr>
          <p:txBody>
            <a:bodyPr/>
            <a:lstStyle/>
            <a:p>
              <a:endParaRPr lang="en-US"/>
            </a:p>
          </p:txBody>
        </p:sp>
        <p:sp>
          <p:nvSpPr>
            <p:cNvPr id="8" name="TextBox 8"/>
            <p:cNvSpPr txBox="1"/>
            <p:nvPr/>
          </p:nvSpPr>
          <p:spPr>
            <a:xfrm>
              <a:off x="0" y="76200"/>
              <a:ext cx="21640800" cy="3183600"/>
            </a:xfrm>
            <a:prstGeom prst="rect">
              <a:avLst/>
            </a:prstGeom>
          </p:spPr>
          <p:txBody>
            <a:bodyPr lIns="0" tIns="0" rIns="0" bIns="0" rtlCol="0" anchor="t"/>
            <a:lstStyle/>
            <a:p>
              <a:pPr algn="ctr">
                <a:lnSpc>
                  <a:spcPts val="7235"/>
                </a:lnSpc>
              </a:pPr>
              <a:r>
                <a:rPr lang="en-US" sz="6699" b="1" spc="662">
                  <a:solidFill>
                    <a:srgbClr val="446777"/>
                  </a:solidFill>
                  <a:latin typeface="Vollkorn Bold"/>
                  <a:ea typeface="Vollkorn Bold"/>
                  <a:cs typeface="Vollkorn Bold"/>
                  <a:sym typeface="Vollkorn Bold"/>
                </a:rPr>
                <a:t>NYC Taxi and Limousine Commission (TLC) Analysis</a:t>
              </a:r>
            </a:p>
          </p:txBody>
        </p:sp>
      </p:grpSp>
      <p:sp>
        <p:nvSpPr>
          <p:cNvPr id="9" name="TextBox 9"/>
          <p:cNvSpPr txBox="1"/>
          <p:nvPr/>
        </p:nvSpPr>
        <p:spPr>
          <a:xfrm>
            <a:off x="8015213" y="4668009"/>
            <a:ext cx="1977926" cy="556259"/>
          </a:xfrm>
          <a:prstGeom prst="rect">
            <a:avLst/>
          </a:prstGeom>
        </p:spPr>
        <p:txBody>
          <a:bodyPr lIns="0" tIns="0" rIns="0" bIns="0" rtlCol="0" anchor="t">
            <a:spAutoFit/>
          </a:bodyPr>
          <a:lstStyle/>
          <a:p>
            <a:pPr algn="ctr">
              <a:lnSpc>
                <a:spcPts val="4319"/>
              </a:lnSpc>
              <a:spcBef>
                <a:spcPct val="0"/>
              </a:spcBef>
            </a:pPr>
            <a:r>
              <a:rPr lang="en-US" sz="3999" b="1" dirty="0">
                <a:solidFill>
                  <a:srgbClr val="446777"/>
                </a:solidFill>
                <a:latin typeface="Vollkorn Bold"/>
                <a:ea typeface="Vollkorn Bold"/>
                <a:cs typeface="Vollkorn Bold"/>
                <a:sym typeface="Vollkorn Bold"/>
              </a:rPr>
              <a:t>Group 5 </a:t>
            </a:r>
          </a:p>
        </p:txBody>
      </p:sp>
      <p:sp>
        <p:nvSpPr>
          <p:cNvPr id="10" name="TextBox 10"/>
          <p:cNvSpPr txBox="1"/>
          <p:nvPr/>
        </p:nvSpPr>
        <p:spPr>
          <a:xfrm>
            <a:off x="6240519" y="5488537"/>
            <a:ext cx="5527313" cy="3571555"/>
          </a:xfrm>
          <a:prstGeom prst="rect">
            <a:avLst/>
          </a:prstGeom>
        </p:spPr>
        <p:txBody>
          <a:bodyPr wrap="square" lIns="0" tIns="0" rIns="0" bIns="0" rtlCol="0" anchor="t">
            <a:spAutoFit/>
          </a:bodyPr>
          <a:lstStyle/>
          <a:p>
            <a:pPr algn="ctr">
              <a:lnSpc>
                <a:spcPts val="4654"/>
              </a:lnSpc>
            </a:pPr>
            <a:r>
              <a:rPr lang="en-US" sz="3499" dirty="0">
                <a:solidFill>
                  <a:srgbClr val="446777"/>
                </a:solidFill>
                <a:latin typeface="Cooper BT Light"/>
                <a:ea typeface="Cooper BT Light"/>
                <a:cs typeface="Cooper BT Light"/>
                <a:sym typeface="Cooper BT Light"/>
              </a:rPr>
              <a:t>Jan Mollet</a:t>
            </a:r>
          </a:p>
          <a:p>
            <a:pPr algn="ctr">
              <a:lnSpc>
                <a:spcPts val="4654"/>
              </a:lnSpc>
            </a:pPr>
            <a:r>
              <a:rPr lang="en-US" sz="3499" dirty="0">
                <a:solidFill>
                  <a:srgbClr val="446777"/>
                </a:solidFill>
                <a:latin typeface="Cooper BT Light"/>
                <a:ea typeface="Cooper BT Light"/>
                <a:cs typeface="Cooper BT Light"/>
                <a:sym typeface="Cooper BT Light"/>
              </a:rPr>
              <a:t>Deepali Krishna Kashyap</a:t>
            </a:r>
          </a:p>
          <a:p>
            <a:pPr algn="ctr">
              <a:lnSpc>
                <a:spcPts val="4654"/>
              </a:lnSpc>
            </a:pPr>
            <a:r>
              <a:rPr lang="en-US" sz="3499" dirty="0">
                <a:solidFill>
                  <a:srgbClr val="446777"/>
                </a:solidFill>
                <a:latin typeface="Cooper BT Light"/>
                <a:ea typeface="Cooper BT Light"/>
                <a:cs typeface="Cooper BT Light"/>
                <a:sym typeface="Cooper BT Light"/>
              </a:rPr>
              <a:t> Kanchan Sadashiv </a:t>
            </a:r>
            <a:r>
              <a:rPr lang="en-US" sz="3499" dirty="0" err="1">
                <a:solidFill>
                  <a:srgbClr val="446777"/>
                </a:solidFill>
                <a:latin typeface="Cooper BT Light"/>
                <a:ea typeface="Cooper BT Light"/>
                <a:cs typeface="Cooper BT Light"/>
                <a:sym typeface="Cooper BT Light"/>
              </a:rPr>
              <a:t>Deore</a:t>
            </a:r>
            <a:endParaRPr lang="en-US" sz="3499" dirty="0">
              <a:solidFill>
                <a:srgbClr val="446777"/>
              </a:solidFill>
              <a:latin typeface="Cooper BT Light"/>
              <a:ea typeface="Cooper BT Light"/>
              <a:cs typeface="Cooper BT Light"/>
              <a:sym typeface="Cooper BT Light"/>
            </a:endParaRPr>
          </a:p>
          <a:p>
            <a:pPr algn="ctr">
              <a:lnSpc>
                <a:spcPts val="4654"/>
              </a:lnSpc>
            </a:pPr>
            <a:r>
              <a:rPr lang="en-US" sz="3499" dirty="0">
                <a:solidFill>
                  <a:srgbClr val="446777"/>
                </a:solidFill>
                <a:latin typeface="Cooper BT Light"/>
                <a:ea typeface="Cooper BT Light"/>
                <a:cs typeface="Cooper BT Light"/>
                <a:sym typeface="Cooper BT Light"/>
              </a:rPr>
              <a:t> Nidhi Nityanand Uchil</a:t>
            </a:r>
          </a:p>
          <a:p>
            <a:pPr algn="ctr">
              <a:lnSpc>
                <a:spcPts val="4654"/>
              </a:lnSpc>
            </a:pPr>
            <a:r>
              <a:rPr lang="en-US" sz="3499" dirty="0">
                <a:solidFill>
                  <a:srgbClr val="446777"/>
                </a:solidFill>
                <a:latin typeface="Cooper BT Light"/>
                <a:ea typeface="Cooper BT Light"/>
                <a:cs typeface="Cooper BT Light"/>
                <a:sym typeface="Cooper BT Light"/>
              </a:rPr>
              <a:t> Shamitha K V</a:t>
            </a:r>
          </a:p>
          <a:p>
            <a:pPr algn="ctr">
              <a:lnSpc>
                <a:spcPts val="4654"/>
              </a:lnSpc>
            </a:pPr>
            <a:r>
              <a:rPr lang="en-US" sz="3499" dirty="0">
                <a:solidFill>
                  <a:srgbClr val="446777"/>
                </a:solidFill>
                <a:latin typeface="Cooper BT Light"/>
                <a:ea typeface="Cooper BT Light"/>
                <a:cs typeface="Cooper BT Light"/>
                <a:sym typeface="Cooper BT Light"/>
              </a:rPr>
              <a:t> Yochana </a:t>
            </a:r>
            <a:r>
              <a:rPr lang="en-US" sz="3499" dirty="0" err="1">
                <a:solidFill>
                  <a:srgbClr val="446777"/>
                </a:solidFill>
                <a:latin typeface="Cooper BT Light"/>
                <a:ea typeface="Cooper BT Light"/>
                <a:cs typeface="Cooper BT Light"/>
                <a:sym typeface="Cooper BT Light"/>
              </a:rPr>
              <a:t>Boddepalli</a:t>
            </a:r>
            <a:endParaRPr lang="en-US" sz="3499" dirty="0">
              <a:solidFill>
                <a:srgbClr val="446777"/>
              </a:solidFill>
              <a:latin typeface="Cooper BT Light"/>
              <a:ea typeface="Cooper BT Light"/>
              <a:cs typeface="Cooper BT Light"/>
              <a:sym typeface="Cooper BT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30000"/>
            </a:blip>
            <a:stretch>
              <a:fillRect t="-76328" b="-1448"/>
            </a:stretch>
          </a:blipFill>
        </p:spPr>
        <p:txBody>
          <a:bodyPr/>
          <a:lstStyle/>
          <a:p>
            <a:endParaRPr lang="en-US"/>
          </a:p>
        </p:txBody>
      </p:sp>
      <p:grpSp>
        <p:nvGrpSpPr>
          <p:cNvPr id="3" name="Group 3"/>
          <p:cNvGrpSpPr/>
          <p:nvPr/>
        </p:nvGrpSpPr>
        <p:grpSpPr>
          <a:xfrm>
            <a:off x="399772" y="399774"/>
            <a:ext cx="17488455" cy="9487450"/>
            <a:chOff x="0" y="0"/>
            <a:chExt cx="23317940" cy="12649934"/>
          </a:xfrm>
        </p:grpSpPr>
        <p:sp>
          <p:nvSpPr>
            <p:cNvPr id="4" name="Freeform 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446777"/>
            </a:solidFill>
          </p:spPr>
          <p:txBody>
            <a:bodyPr/>
            <a:lstStyle/>
            <a:p>
              <a:endParaRPr lang="en-US"/>
            </a:p>
          </p:txBody>
        </p:sp>
      </p:grpSp>
      <p:grpSp>
        <p:nvGrpSpPr>
          <p:cNvPr id="5" name="Group 5"/>
          <p:cNvGrpSpPr/>
          <p:nvPr/>
        </p:nvGrpSpPr>
        <p:grpSpPr>
          <a:xfrm>
            <a:off x="1028700" y="4435056"/>
            <a:ext cx="16230600" cy="2444850"/>
            <a:chOff x="0" y="0"/>
            <a:chExt cx="21640800" cy="3259800"/>
          </a:xfrm>
        </p:grpSpPr>
        <p:sp>
          <p:nvSpPr>
            <p:cNvPr id="6" name="Freeform 6"/>
            <p:cNvSpPr/>
            <p:nvPr/>
          </p:nvSpPr>
          <p:spPr>
            <a:xfrm>
              <a:off x="0" y="0"/>
              <a:ext cx="21640800" cy="3259800"/>
            </a:xfrm>
            <a:custGeom>
              <a:avLst/>
              <a:gdLst/>
              <a:ahLst/>
              <a:cxnLst/>
              <a:rect l="l" t="t" r="r" b="b"/>
              <a:pathLst>
                <a:path w="21640800" h="3259800">
                  <a:moveTo>
                    <a:pt x="0" y="0"/>
                  </a:moveTo>
                  <a:lnTo>
                    <a:pt x="21640800" y="0"/>
                  </a:lnTo>
                  <a:lnTo>
                    <a:pt x="21640800" y="3259800"/>
                  </a:lnTo>
                  <a:lnTo>
                    <a:pt x="0" y="3259800"/>
                  </a:lnTo>
                  <a:close/>
                </a:path>
              </a:pathLst>
            </a:custGeom>
            <a:solidFill>
              <a:srgbClr val="000000">
                <a:alpha val="0"/>
              </a:srgbClr>
            </a:solidFill>
          </p:spPr>
          <p:txBody>
            <a:bodyPr/>
            <a:lstStyle/>
            <a:p>
              <a:endParaRPr lang="en-US"/>
            </a:p>
          </p:txBody>
        </p:sp>
        <p:sp>
          <p:nvSpPr>
            <p:cNvPr id="7" name="TextBox 7"/>
            <p:cNvSpPr txBox="1"/>
            <p:nvPr/>
          </p:nvSpPr>
          <p:spPr>
            <a:xfrm>
              <a:off x="0" y="76200"/>
              <a:ext cx="21640800" cy="3183600"/>
            </a:xfrm>
            <a:prstGeom prst="rect">
              <a:avLst/>
            </a:prstGeom>
          </p:spPr>
          <p:txBody>
            <a:bodyPr lIns="0" tIns="0" rIns="0" bIns="0" rtlCol="0" anchor="t"/>
            <a:lstStyle/>
            <a:p>
              <a:pPr algn="ctr">
                <a:lnSpc>
                  <a:spcPts val="7235"/>
                </a:lnSpc>
              </a:pPr>
              <a:r>
                <a:rPr lang="en-US" sz="6699" b="1" spc="662">
                  <a:solidFill>
                    <a:srgbClr val="446777"/>
                  </a:solidFill>
                  <a:latin typeface="Vollkorn Bold"/>
                  <a:ea typeface="Vollkorn Bold"/>
                  <a:cs typeface="Vollkorn Bold"/>
                  <a:sym typeface="Vollkorn Bold"/>
                </a:rPr>
                <a:t>CRISP-DM: Business/Data Understanding</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463B"/>
        </a:solidFill>
        <a:effectLst/>
      </p:bgPr>
    </p:bg>
    <p:spTree>
      <p:nvGrpSpPr>
        <p:cNvPr id="1" name=""/>
        <p:cNvGrpSpPr/>
        <p:nvPr/>
      </p:nvGrpSpPr>
      <p:grpSpPr>
        <a:xfrm>
          <a:off x="0" y="0"/>
          <a:ext cx="0" cy="0"/>
          <a:chOff x="0" y="0"/>
          <a:chExt cx="0" cy="0"/>
        </a:xfrm>
      </p:grpSpPr>
      <p:sp>
        <p:nvSpPr>
          <p:cNvPr id="2" name="Freeform 2"/>
          <p:cNvSpPr/>
          <p:nvPr/>
        </p:nvSpPr>
        <p:spPr>
          <a:xfrm>
            <a:off x="0" y="0"/>
            <a:ext cx="18226953" cy="10287000"/>
          </a:xfrm>
          <a:custGeom>
            <a:avLst/>
            <a:gdLst/>
            <a:ahLst/>
            <a:cxnLst/>
            <a:rect l="l" t="t" r="r" b="b"/>
            <a:pathLst>
              <a:path w="18226953" h="10287000">
                <a:moveTo>
                  <a:pt x="0" y="0"/>
                </a:moveTo>
                <a:lnTo>
                  <a:pt x="18226953" y="0"/>
                </a:lnTo>
                <a:lnTo>
                  <a:pt x="18226953" y="10287000"/>
                </a:lnTo>
                <a:lnTo>
                  <a:pt x="0" y="10287000"/>
                </a:lnTo>
                <a:lnTo>
                  <a:pt x="0" y="0"/>
                </a:lnTo>
                <a:close/>
              </a:path>
            </a:pathLst>
          </a:custGeom>
          <a:blipFill>
            <a:blip r:embed="rId3">
              <a:alphaModFix amt="5000"/>
            </a:blip>
            <a:stretch>
              <a:fillRect l="-1247" t="-54414" r="-2" b="-24982"/>
            </a:stretch>
          </a:blipFill>
        </p:spPr>
        <p:txBody>
          <a:bodyPr/>
          <a:lstStyle/>
          <a:p>
            <a:endParaRPr lang="en-US"/>
          </a:p>
        </p:txBody>
      </p:sp>
      <p:sp>
        <p:nvSpPr>
          <p:cNvPr id="3" name="Freeform 3"/>
          <p:cNvSpPr/>
          <p:nvPr/>
        </p:nvSpPr>
        <p:spPr>
          <a:xfrm>
            <a:off x="5022422" y="2228578"/>
            <a:ext cx="8243156" cy="7799402"/>
          </a:xfrm>
          <a:custGeom>
            <a:avLst/>
            <a:gdLst/>
            <a:ahLst/>
            <a:cxnLst/>
            <a:rect l="l" t="t" r="r" b="b"/>
            <a:pathLst>
              <a:path w="8243156" h="7799402">
                <a:moveTo>
                  <a:pt x="0" y="0"/>
                </a:moveTo>
                <a:lnTo>
                  <a:pt x="8243156" y="0"/>
                </a:lnTo>
                <a:lnTo>
                  <a:pt x="8243156" y="7799402"/>
                </a:lnTo>
                <a:lnTo>
                  <a:pt x="0" y="7799402"/>
                </a:lnTo>
                <a:lnTo>
                  <a:pt x="0" y="0"/>
                </a:lnTo>
                <a:close/>
              </a:path>
            </a:pathLst>
          </a:custGeom>
          <a:blipFill>
            <a:blip r:embed="rId4"/>
            <a:stretch>
              <a:fillRect b="-3443"/>
            </a:stretch>
          </a:blipFill>
        </p:spPr>
        <p:txBody>
          <a:bodyPr/>
          <a:lstStyle/>
          <a:p>
            <a:endParaRPr lang="en-US"/>
          </a:p>
        </p:txBody>
      </p:sp>
      <p:sp>
        <p:nvSpPr>
          <p:cNvPr id="4" name="TextBox 4"/>
          <p:cNvSpPr txBox="1"/>
          <p:nvPr/>
        </p:nvSpPr>
        <p:spPr>
          <a:xfrm>
            <a:off x="3076724" y="472823"/>
            <a:ext cx="12767541" cy="662173"/>
          </a:xfrm>
          <a:prstGeom prst="rect">
            <a:avLst/>
          </a:prstGeom>
        </p:spPr>
        <p:txBody>
          <a:bodyPr lIns="0" tIns="0" rIns="0" bIns="0" rtlCol="0" anchor="t">
            <a:spAutoFit/>
          </a:bodyPr>
          <a:lstStyle/>
          <a:p>
            <a:pPr algn="ctr">
              <a:lnSpc>
                <a:spcPts val="5075"/>
              </a:lnSpc>
              <a:spcBef>
                <a:spcPct val="0"/>
              </a:spcBef>
            </a:pPr>
            <a:r>
              <a:rPr lang="en-US" sz="4699" b="1">
                <a:solidFill>
                  <a:srgbClr val="F2EDD8"/>
                </a:solidFill>
                <a:latin typeface="Vollkorn Bold"/>
                <a:ea typeface="Vollkorn Bold"/>
                <a:cs typeface="Vollkorn Bold"/>
                <a:sym typeface="Vollkorn Bold"/>
              </a:rPr>
              <a:t>South of West 110th St and East 96th St</a:t>
            </a:r>
          </a:p>
        </p:txBody>
      </p:sp>
      <p:grpSp>
        <p:nvGrpSpPr>
          <p:cNvPr id="5" name="Group 5"/>
          <p:cNvGrpSpPr/>
          <p:nvPr/>
        </p:nvGrpSpPr>
        <p:grpSpPr>
          <a:xfrm rot="1437470">
            <a:off x="8914336" y="4227927"/>
            <a:ext cx="575209" cy="1993351"/>
            <a:chOff x="0" y="0"/>
            <a:chExt cx="151495" cy="524998"/>
          </a:xfrm>
        </p:grpSpPr>
        <p:sp>
          <p:nvSpPr>
            <p:cNvPr id="6" name="Freeform 6"/>
            <p:cNvSpPr/>
            <p:nvPr/>
          </p:nvSpPr>
          <p:spPr>
            <a:xfrm>
              <a:off x="0" y="0"/>
              <a:ext cx="151495" cy="524998"/>
            </a:xfrm>
            <a:custGeom>
              <a:avLst/>
              <a:gdLst/>
              <a:ahLst/>
              <a:cxnLst/>
              <a:rect l="l" t="t" r="r" b="b"/>
              <a:pathLst>
                <a:path w="151495" h="524998">
                  <a:moveTo>
                    <a:pt x="0" y="0"/>
                  </a:moveTo>
                  <a:lnTo>
                    <a:pt x="151495" y="0"/>
                  </a:lnTo>
                  <a:lnTo>
                    <a:pt x="151495" y="524998"/>
                  </a:lnTo>
                  <a:lnTo>
                    <a:pt x="0" y="524998"/>
                  </a:lnTo>
                  <a:close/>
                </a:path>
              </a:pathLst>
            </a:custGeom>
            <a:solidFill>
              <a:srgbClr val="F5C116">
                <a:alpha val="60000"/>
              </a:srgbClr>
            </a:solidFill>
            <a:ln w="9525" cap="sq">
              <a:solidFill>
                <a:srgbClr val="010101">
                  <a:alpha val="60000"/>
                </a:srgbClr>
              </a:solidFill>
              <a:prstDash val="solid"/>
              <a:miter/>
            </a:ln>
          </p:spPr>
          <p:txBody>
            <a:bodyPr/>
            <a:lstStyle/>
            <a:p>
              <a:endParaRPr lang="en-US"/>
            </a:p>
          </p:txBody>
        </p:sp>
        <p:sp>
          <p:nvSpPr>
            <p:cNvPr id="7" name="TextBox 7"/>
            <p:cNvSpPr txBox="1"/>
            <p:nvPr/>
          </p:nvSpPr>
          <p:spPr>
            <a:xfrm>
              <a:off x="0" y="-38100"/>
              <a:ext cx="151495" cy="56309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7868852" y="1741083"/>
            <a:ext cx="2464489" cy="735291"/>
            <a:chOff x="0" y="0"/>
            <a:chExt cx="3285986" cy="980388"/>
          </a:xfrm>
        </p:grpSpPr>
        <p:sp>
          <p:nvSpPr>
            <p:cNvPr id="9" name="Freeform 9"/>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8364"/>
        </a:solidFill>
        <a:effectLst/>
      </p:bgPr>
    </p:bg>
    <p:spTree>
      <p:nvGrpSpPr>
        <p:cNvPr id="1" name=""/>
        <p:cNvGrpSpPr/>
        <p:nvPr/>
      </p:nvGrpSpPr>
      <p:grpSpPr>
        <a:xfrm>
          <a:off x="0" y="0"/>
          <a:ext cx="0" cy="0"/>
          <a:chOff x="0" y="0"/>
          <a:chExt cx="0" cy="0"/>
        </a:xfrm>
      </p:grpSpPr>
      <p:sp>
        <p:nvSpPr>
          <p:cNvPr id="2" name="Freeform 2"/>
          <p:cNvSpPr/>
          <p:nvPr/>
        </p:nvSpPr>
        <p:spPr>
          <a:xfrm rot="-10800000" flipV="1">
            <a:off x="-23992" y="-11598"/>
            <a:ext cx="18286526" cy="10298598"/>
          </a:xfrm>
          <a:custGeom>
            <a:avLst/>
            <a:gdLst/>
            <a:ahLst/>
            <a:cxnLst/>
            <a:rect l="l" t="t" r="r" b="b"/>
            <a:pathLst>
              <a:path w="18286526" h="10298598">
                <a:moveTo>
                  <a:pt x="0" y="10298598"/>
                </a:moveTo>
                <a:lnTo>
                  <a:pt x="18286525" y="10298598"/>
                </a:lnTo>
                <a:lnTo>
                  <a:pt x="18286525" y="0"/>
                </a:lnTo>
                <a:lnTo>
                  <a:pt x="0" y="0"/>
                </a:lnTo>
                <a:lnTo>
                  <a:pt x="0" y="10298598"/>
                </a:lnTo>
                <a:close/>
              </a:path>
            </a:pathLst>
          </a:custGeom>
          <a:blipFill>
            <a:blip r:embed="rId3">
              <a:alphaModFix amt="5000"/>
            </a:blip>
            <a:stretch>
              <a:fillRect l="-3754" r="-2272" b="-12578"/>
            </a:stretch>
          </a:blipFill>
        </p:spPr>
        <p:txBody>
          <a:bodyPr/>
          <a:lstStyle/>
          <a:p>
            <a:endParaRPr lang="en-US"/>
          </a:p>
        </p:txBody>
      </p:sp>
      <p:sp>
        <p:nvSpPr>
          <p:cNvPr id="3" name="Freeform 3"/>
          <p:cNvSpPr/>
          <p:nvPr/>
        </p:nvSpPr>
        <p:spPr>
          <a:xfrm>
            <a:off x="1142268" y="2510746"/>
            <a:ext cx="3554821" cy="3554821"/>
          </a:xfrm>
          <a:custGeom>
            <a:avLst/>
            <a:gdLst/>
            <a:ahLst/>
            <a:cxnLst/>
            <a:rect l="l" t="t" r="r" b="b"/>
            <a:pathLst>
              <a:path w="3554821" h="3554821">
                <a:moveTo>
                  <a:pt x="0" y="0"/>
                </a:moveTo>
                <a:lnTo>
                  <a:pt x="3554821" y="0"/>
                </a:lnTo>
                <a:lnTo>
                  <a:pt x="3554821" y="3554820"/>
                </a:lnTo>
                <a:lnTo>
                  <a:pt x="0" y="3554820"/>
                </a:lnTo>
                <a:lnTo>
                  <a:pt x="0" y="0"/>
                </a:lnTo>
                <a:close/>
              </a:path>
            </a:pathLst>
          </a:custGeom>
          <a:blipFill>
            <a:blip r:embed="rId4"/>
            <a:stretch>
              <a:fillRect/>
            </a:stretch>
          </a:blipFill>
        </p:spPr>
        <p:txBody>
          <a:bodyPr/>
          <a:lstStyle/>
          <a:p>
            <a:endParaRPr lang="en-US"/>
          </a:p>
        </p:txBody>
      </p:sp>
      <p:sp>
        <p:nvSpPr>
          <p:cNvPr id="4" name="Freeform 4"/>
          <p:cNvSpPr/>
          <p:nvPr/>
        </p:nvSpPr>
        <p:spPr>
          <a:xfrm>
            <a:off x="13586579" y="2510746"/>
            <a:ext cx="3678156" cy="3678156"/>
          </a:xfrm>
          <a:custGeom>
            <a:avLst/>
            <a:gdLst/>
            <a:ahLst/>
            <a:cxnLst/>
            <a:rect l="l" t="t" r="r" b="b"/>
            <a:pathLst>
              <a:path w="3678156" h="3678156">
                <a:moveTo>
                  <a:pt x="0" y="0"/>
                </a:moveTo>
                <a:lnTo>
                  <a:pt x="3678156" y="0"/>
                </a:lnTo>
                <a:lnTo>
                  <a:pt x="3678156" y="3678155"/>
                </a:lnTo>
                <a:lnTo>
                  <a:pt x="0" y="3678155"/>
                </a:lnTo>
                <a:lnTo>
                  <a:pt x="0" y="0"/>
                </a:lnTo>
                <a:close/>
              </a:path>
            </a:pathLst>
          </a:custGeom>
          <a:blipFill>
            <a:blip r:embed="rId5"/>
            <a:stretch>
              <a:fillRect/>
            </a:stretch>
          </a:blipFill>
        </p:spPr>
        <p:txBody>
          <a:bodyPr/>
          <a:lstStyle/>
          <a:p>
            <a:endParaRPr lang="en-US"/>
          </a:p>
        </p:txBody>
      </p:sp>
      <p:sp>
        <p:nvSpPr>
          <p:cNvPr id="5" name="Freeform 5"/>
          <p:cNvSpPr/>
          <p:nvPr/>
        </p:nvSpPr>
        <p:spPr>
          <a:xfrm>
            <a:off x="7130296" y="5233582"/>
            <a:ext cx="3977949" cy="3977949"/>
          </a:xfrm>
          <a:custGeom>
            <a:avLst/>
            <a:gdLst/>
            <a:ahLst/>
            <a:cxnLst/>
            <a:rect l="l" t="t" r="r" b="b"/>
            <a:pathLst>
              <a:path w="3977949" h="3977949">
                <a:moveTo>
                  <a:pt x="0" y="0"/>
                </a:moveTo>
                <a:lnTo>
                  <a:pt x="3977949" y="0"/>
                </a:lnTo>
                <a:lnTo>
                  <a:pt x="3977949" y="3977949"/>
                </a:lnTo>
                <a:lnTo>
                  <a:pt x="0" y="3977949"/>
                </a:lnTo>
                <a:lnTo>
                  <a:pt x="0" y="0"/>
                </a:lnTo>
                <a:close/>
              </a:path>
            </a:pathLst>
          </a:custGeom>
          <a:blipFill>
            <a:blip r:embed="rId6"/>
            <a:stretch>
              <a:fillRect/>
            </a:stretch>
          </a:blipFill>
        </p:spPr>
        <p:txBody>
          <a:bodyPr/>
          <a:lstStyle/>
          <a:p>
            <a:endParaRPr lang="en-US"/>
          </a:p>
        </p:txBody>
      </p:sp>
      <p:sp>
        <p:nvSpPr>
          <p:cNvPr id="6" name="TextBox 6"/>
          <p:cNvSpPr txBox="1"/>
          <p:nvPr/>
        </p:nvSpPr>
        <p:spPr>
          <a:xfrm>
            <a:off x="7105526" y="8896256"/>
            <a:ext cx="4027488" cy="630550"/>
          </a:xfrm>
          <a:prstGeom prst="rect">
            <a:avLst/>
          </a:prstGeom>
        </p:spPr>
        <p:txBody>
          <a:bodyPr lIns="0" tIns="0" rIns="0" bIns="0" rtlCol="0" anchor="t">
            <a:spAutoFit/>
          </a:bodyPr>
          <a:lstStyle/>
          <a:p>
            <a:pPr algn="ctr">
              <a:lnSpc>
                <a:spcPts val="4859"/>
              </a:lnSpc>
              <a:spcBef>
                <a:spcPct val="0"/>
              </a:spcBef>
            </a:pPr>
            <a:r>
              <a:rPr lang="en-US" sz="4499" b="1" dirty="0">
                <a:solidFill>
                  <a:srgbClr val="FFFFFF"/>
                </a:solidFill>
                <a:latin typeface="Vollkorn Bold"/>
                <a:ea typeface="Vollkorn Bold"/>
                <a:cs typeface="Vollkorn Bold"/>
                <a:sym typeface="Vollkorn Bold"/>
              </a:rPr>
              <a:t>600 employees</a:t>
            </a:r>
          </a:p>
        </p:txBody>
      </p:sp>
      <p:sp>
        <p:nvSpPr>
          <p:cNvPr id="7" name="TextBox 7"/>
          <p:cNvSpPr txBox="1"/>
          <p:nvPr/>
        </p:nvSpPr>
        <p:spPr>
          <a:xfrm>
            <a:off x="13707942" y="6334083"/>
            <a:ext cx="3435430" cy="630550"/>
          </a:xfrm>
          <a:prstGeom prst="rect">
            <a:avLst/>
          </a:prstGeom>
        </p:spPr>
        <p:txBody>
          <a:bodyPr lIns="0" tIns="0" rIns="0" bIns="0" rtlCol="0" anchor="t">
            <a:spAutoFit/>
          </a:bodyPr>
          <a:lstStyle/>
          <a:p>
            <a:pPr algn="ctr">
              <a:lnSpc>
                <a:spcPts val="4859"/>
              </a:lnSpc>
              <a:spcBef>
                <a:spcPct val="0"/>
              </a:spcBef>
            </a:pPr>
            <a:r>
              <a:rPr lang="en-US" sz="4499" b="1">
                <a:solidFill>
                  <a:srgbClr val="FFFFFF"/>
                </a:solidFill>
                <a:latin typeface="Vollkorn Bold"/>
                <a:ea typeface="Vollkorn Bold"/>
                <a:cs typeface="Vollkorn Bold"/>
                <a:sym typeface="Vollkorn Bold"/>
              </a:rPr>
              <a:t>200k drivers</a:t>
            </a:r>
          </a:p>
        </p:txBody>
      </p:sp>
      <p:sp>
        <p:nvSpPr>
          <p:cNvPr id="8" name="TextBox 8"/>
          <p:cNvSpPr txBox="1"/>
          <p:nvPr/>
        </p:nvSpPr>
        <p:spPr>
          <a:xfrm>
            <a:off x="1611360" y="6272416"/>
            <a:ext cx="2616637" cy="630550"/>
          </a:xfrm>
          <a:prstGeom prst="rect">
            <a:avLst/>
          </a:prstGeom>
        </p:spPr>
        <p:txBody>
          <a:bodyPr lIns="0" tIns="0" rIns="0" bIns="0" rtlCol="0" anchor="t">
            <a:spAutoFit/>
          </a:bodyPr>
          <a:lstStyle/>
          <a:p>
            <a:pPr algn="ctr">
              <a:lnSpc>
                <a:spcPts val="4859"/>
              </a:lnSpc>
              <a:spcBef>
                <a:spcPct val="0"/>
              </a:spcBef>
            </a:pPr>
            <a:r>
              <a:rPr lang="en-US" sz="4499" b="1">
                <a:solidFill>
                  <a:srgbClr val="FFFFFF"/>
                </a:solidFill>
                <a:latin typeface="Vollkorn Bold"/>
                <a:ea typeface="Vollkorn Bold"/>
                <a:cs typeface="Vollkorn Bold"/>
                <a:sym typeface="Vollkorn Bold"/>
              </a:rPr>
              <a:t>Since 1971</a:t>
            </a:r>
          </a:p>
        </p:txBody>
      </p:sp>
      <p:sp>
        <p:nvSpPr>
          <p:cNvPr id="9" name="TextBox 9"/>
          <p:cNvSpPr txBox="1"/>
          <p:nvPr/>
        </p:nvSpPr>
        <p:spPr>
          <a:xfrm>
            <a:off x="3114249" y="798905"/>
            <a:ext cx="12026584" cy="1441318"/>
          </a:xfrm>
          <a:prstGeom prst="rect">
            <a:avLst/>
          </a:prstGeom>
        </p:spPr>
        <p:txBody>
          <a:bodyPr lIns="0" tIns="0" rIns="0" bIns="0" rtlCol="0" anchor="t">
            <a:spAutoFit/>
          </a:bodyPr>
          <a:lstStyle/>
          <a:p>
            <a:pPr algn="ctr">
              <a:lnSpc>
                <a:spcPts val="5615"/>
              </a:lnSpc>
            </a:pPr>
            <a:r>
              <a:rPr lang="en-US" sz="5199" b="1">
                <a:solidFill>
                  <a:srgbClr val="F8EAD4"/>
                </a:solidFill>
                <a:latin typeface="Vollkorn Bold"/>
                <a:ea typeface="Vollkorn Bold"/>
                <a:cs typeface="Vollkorn Bold"/>
                <a:sym typeface="Vollkorn Bold"/>
              </a:rPr>
              <a:t>NYC</a:t>
            </a:r>
          </a:p>
          <a:p>
            <a:pPr algn="ctr">
              <a:lnSpc>
                <a:spcPts val="5615"/>
              </a:lnSpc>
              <a:spcBef>
                <a:spcPct val="0"/>
              </a:spcBef>
            </a:pPr>
            <a:r>
              <a:rPr lang="en-US" sz="5199" b="1">
                <a:solidFill>
                  <a:srgbClr val="F8EAD4"/>
                </a:solidFill>
                <a:latin typeface="Vollkorn Bold"/>
                <a:ea typeface="Vollkorn Bold"/>
                <a:cs typeface="Vollkorn Bold"/>
                <a:sym typeface="Vollkorn Bold"/>
              </a:rPr>
              <a:t>Taxi &amp; Limousine Comission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6777"/>
        </a:solidFill>
        <a:effectLst/>
      </p:bgPr>
    </p:bg>
    <p:spTree>
      <p:nvGrpSpPr>
        <p:cNvPr id="1" name=""/>
        <p:cNvGrpSpPr/>
        <p:nvPr/>
      </p:nvGrpSpPr>
      <p:grpSpPr>
        <a:xfrm>
          <a:off x="0" y="0"/>
          <a:ext cx="0" cy="0"/>
          <a:chOff x="0" y="0"/>
          <a:chExt cx="0" cy="0"/>
        </a:xfrm>
      </p:grpSpPr>
      <p:sp>
        <p:nvSpPr>
          <p:cNvPr id="2" name="Freeform 2"/>
          <p:cNvSpPr/>
          <p:nvPr/>
        </p:nvSpPr>
        <p:spPr>
          <a:xfrm rot="-10800000" flipV="1">
            <a:off x="52300" y="114300"/>
            <a:ext cx="18288012" cy="10287000"/>
          </a:xfrm>
          <a:custGeom>
            <a:avLst/>
            <a:gdLst/>
            <a:ahLst/>
            <a:cxnLst/>
            <a:rect l="l" t="t" r="r" b="b"/>
            <a:pathLst>
              <a:path w="18288012" h="10287000">
                <a:moveTo>
                  <a:pt x="0" y="10287000"/>
                </a:moveTo>
                <a:lnTo>
                  <a:pt x="18288012" y="10287000"/>
                </a:lnTo>
                <a:lnTo>
                  <a:pt x="18288012" y="0"/>
                </a:lnTo>
                <a:lnTo>
                  <a:pt x="0" y="0"/>
                </a:lnTo>
                <a:lnTo>
                  <a:pt x="0" y="10287000"/>
                </a:lnTo>
                <a:close/>
              </a:path>
            </a:pathLst>
          </a:custGeom>
          <a:blipFill>
            <a:blip r:embed="rId3">
              <a:alphaModFix amt="3100"/>
            </a:blip>
            <a:stretch>
              <a:fillRect l="-3745" r="-2271" b="-12704"/>
            </a:stretch>
          </a:blipFill>
        </p:spPr>
        <p:txBody>
          <a:bodyPr/>
          <a:lstStyle/>
          <a:p>
            <a:endParaRPr lang="en-US"/>
          </a:p>
        </p:txBody>
      </p:sp>
      <p:sp>
        <p:nvSpPr>
          <p:cNvPr id="3" name="Freeform 3"/>
          <p:cNvSpPr/>
          <p:nvPr/>
        </p:nvSpPr>
        <p:spPr>
          <a:xfrm>
            <a:off x="7842686" y="4084403"/>
            <a:ext cx="2602628" cy="2602628"/>
          </a:xfrm>
          <a:custGeom>
            <a:avLst/>
            <a:gdLst/>
            <a:ahLst/>
            <a:cxnLst/>
            <a:rect l="l" t="t" r="r" b="b"/>
            <a:pathLst>
              <a:path w="2602628" h="2602628">
                <a:moveTo>
                  <a:pt x="0" y="0"/>
                </a:moveTo>
                <a:lnTo>
                  <a:pt x="2602628" y="0"/>
                </a:lnTo>
                <a:lnTo>
                  <a:pt x="2602628" y="2602628"/>
                </a:lnTo>
                <a:lnTo>
                  <a:pt x="0" y="2602628"/>
                </a:lnTo>
                <a:lnTo>
                  <a:pt x="0" y="0"/>
                </a:lnTo>
                <a:close/>
              </a:path>
            </a:pathLst>
          </a:custGeom>
          <a:blipFill>
            <a:blip r:embed="rId4"/>
            <a:stretch>
              <a:fillRect/>
            </a:stretch>
          </a:blipFill>
          <a:ln cap="sq">
            <a:noFill/>
            <a:prstDash val="solid"/>
            <a:miter/>
          </a:ln>
        </p:spPr>
        <p:txBody>
          <a:bodyPr/>
          <a:lstStyle/>
          <a:p>
            <a:endParaRPr lang="en-US"/>
          </a:p>
        </p:txBody>
      </p:sp>
      <p:sp>
        <p:nvSpPr>
          <p:cNvPr id="4" name="Freeform 4"/>
          <p:cNvSpPr/>
          <p:nvPr/>
        </p:nvSpPr>
        <p:spPr>
          <a:xfrm>
            <a:off x="1209353" y="6918121"/>
            <a:ext cx="2123931" cy="2123931"/>
          </a:xfrm>
          <a:custGeom>
            <a:avLst/>
            <a:gdLst/>
            <a:ahLst/>
            <a:cxnLst/>
            <a:rect l="l" t="t" r="r" b="b"/>
            <a:pathLst>
              <a:path w="2123931" h="2123931">
                <a:moveTo>
                  <a:pt x="0" y="0"/>
                </a:moveTo>
                <a:lnTo>
                  <a:pt x="2123931" y="0"/>
                </a:lnTo>
                <a:lnTo>
                  <a:pt x="2123931" y="2123931"/>
                </a:lnTo>
                <a:lnTo>
                  <a:pt x="0" y="2123931"/>
                </a:lnTo>
                <a:lnTo>
                  <a:pt x="0" y="0"/>
                </a:lnTo>
                <a:close/>
              </a:path>
            </a:pathLst>
          </a:custGeom>
          <a:blipFill>
            <a:blip r:embed="rId5"/>
            <a:stretch>
              <a:fillRect/>
            </a:stretch>
          </a:blipFill>
        </p:spPr>
        <p:txBody>
          <a:bodyPr/>
          <a:lstStyle/>
          <a:p>
            <a:endParaRPr lang="en-US"/>
          </a:p>
        </p:txBody>
      </p:sp>
      <p:sp>
        <p:nvSpPr>
          <p:cNvPr id="5" name="Freeform 5"/>
          <p:cNvSpPr/>
          <p:nvPr/>
        </p:nvSpPr>
        <p:spPr>
          <a:xfrm>
            <a:off x="5107436" y="7140281"/>
            <a:ext cx="1901771" cy="1901771"/>
          </a:xfrm>
          <a:custGeom>
            <a:avLst/>
            <a:gdLst/>
            <a:ahLst/>
            <a:cxnLst/>
            <a:rect l="l" t="t" r="r" b="b"/>
            <a:pathLst>
              <a:path w="1901771" h="1901771">
                <a:moveTo>
                  <a:pt x="0" y="0"/>
                </a:moveTo>
                <a:lnTo>
                  <a:pt x="1901771" y="0"/>
                </a:lnTo>
                <a:lnTo>
                  <a:pt x="1901771" y="1901771"/>
                </a:lnTo>
                <a:lnTo>
                  <a:pt x="0" y="1901771"/>
                </a:lnTo>
                <a:lnTo>
                  <a:pt x="0" y="0"/>
                </a:lnTo>
                <a:close/>
              </a:path>
            </a:pathLst>
          </a:custGeom>
          <a:blipFill>
            <a:blip r:embed="rId6"/>
            <a:stretch>
              <a:fillRect/>
            </a:stretch>
          </a:blipFill>
        </p:spPr>
        <p:txBody>
          <a:bodyPr/>
          <a:lstStyle/>
          <a:p>
            <a:endParaRPr lang="en-US"/>
          </a:p>
        </p:txBody>
      </p:sp>
      <p:sp>
        <p:nvSpPr>
          <p:cNvPr id="6" name="Freeform 6"/>
          <p:cNvSpPr/>
          <p:nvPr/>
        </p:nvSpPr>
        <p:spPr>
          <a:xfrm>
            <a:off x="11575297" y="7208000"/>
            <a:ext cx="1834051" cy="1834051"/>
          </a:xfrm>
          <a:custGeom>
            <a:avLst/>
            <a:gdLst/>
            <a:ahLst/>
            <a:cxnLst/>
            <a:rect l="l" t="t" r="r" b="b"/>
            <a:pathLst>
              <a:path w="1834051" h="1834051">
                <a:moveTo>
                  <a:pt x="0" y="0"/>
                </a:moveTo>
                <a:lnTo>
                  <a:pt x="1834051" y="0"/>
                </a:lnTo>
                <a:lnTo>
                  <a:pt x="1834051" y="1834052"/>
                </a:lnTo>
                <a:lnTo>
                  <a:pt x="0" y="1834052"/>
                </a:lnTo>
                <a:lnTo>
                  <a:pt x="0" y="0"/>
                </a:lnTo>
                <a:close/>
              </a:path>
            </a:pathLst>
          </a:custGeom>
          <a:blipFill>
            <a:blip r:embed="rId7"/>
            <a:stretch>
              <a:fillRect/>
            </a:stretch>
          </a:blipFill>
        </p:spPr>
        <p:txBody>
          <a:bodyPr/>
          <a:lstStyle/>
          <a:p>
            <a:endParaRPr lang="en-US"/>
          </a:p>
        </p:txBody>
      </p:sp>
      <p:sp>
        <p:nvSpPr>
          <p:cNvPr id="7" name="Freeform 7"/>
          <p:cNvSpPr/>
          <p:nvPr/>
        </p:nvSpPr>
        <p:spPr>
          <a:xfrm>
            <a:off x="15180998" y="7231909"/>
            <a:ext cx="1810142" cy="1810142"/>
          </a:xfrm>
          <a:custGeom>
            <a:avLst/>
            <a:gdLst/>
            <a:ahLst/>
            <a:cxnLst/>
            <a:rect l="l" t="t" r="r" b="b"/>
            <a:pathLst>
              <a:path w="1810142" h="1810142">
                <a:moveTo>
                  <a:pt x="0" y="0"/>
                </a:moveTo>
                <a:lnTo>
                  <a:pt x="1810143" y="0"/>
                </a:lnTo>
                <a:lnTo>
                  <a:pt x="1810143" y="1810143"/>
                </a:lnTo>
                <a:lnTo>
                  <a:pt x="0" y="1810143"/>
                </a:lnTo>
                <a:lnTo>
                  <a:pt x="0" y="0"/>
                </a:lnTo>
                <a:close/>
              </a:path>
            </a:pathLst>
          </a:custGeom>
          <a:blipFill>
            <a:blip r:embed="rId8"/>
            <a:stretch>
              <a:fillRect/>
            </a:stretch>
          </a:blipFill>
        </p:spPr>
        <p:txBody>
          <a:bodyPr/>
          <a:lstStyle/>
          <a:p>
            <a:endParaRPr lang="en-US"/>
          </a:p>
        </p:txBody>
      </p:sp>
      <p:sp>
        <p:nvSpPr>
          <p:cNvPr id="8" name="Freeform 8"/>
          <p:cNvSpPr/>
          <p:nvPr/>
        </p:nvSpPr>
        <p:spPr>
          <a:xfrm>
            <a:off x="8425755" y="7163549"/>
            <a:ext cx="1855235" cy="1855235"/>
          </a:xfrm>
          <a:custGeom>
            <a:avLst/>
            <a:gdLst/>
            <a:ahLst/>
            <a:cxnLst/>
            <a:rect l="l" t="t" r="r" b="b"/>
            <a:pathLst>
              <a:path w="1855235" h="1855235">
                <a:moveTo>
                  <a:pt x="0" y="0"/>
                </a:moveTo>
                <a:lnTo>
                  <a:pt x="1855235" y="0"/>
                </a:lnTo>
                <a:lnTo>
                  <a:pt x="1855235" y="1855235"/>
                </a:lnTo>
                <a:lnTo>
                  <a:pt x="0" y="1855235"/>
                </a:lnTo>
                <a:lnTo>
                  <a:pt x="0" y="0"/>
                </a:lnTo>
                <a:close/>
              </a:path>
            </a:pathLst>
          </a:custGeom>
          <a:blipFill>
            <a:blip r:embed="rId9"/>
            <a:stretch>
              <a:fillRect/>
            </a:stretch>
          </a:blipFill>
        </p:spPr>
        <p:txBody>
          <a:bodyPr/>
          <a:lstStyle/>
          <a:p>
            <a:endParaRPr lang="en-US"/>
          </a:p>
        </p:txBody>
      </p:sp>
      <p:sp>
        <p:nvSpPr>
          <p:cNvPr id="9" name="TextBox 9"/>
          <p:cNvSpPr txBox="1"/>
          <p:nvPr/>
        </p:nvSpPr>
        <p:spPr>
          <a:xfrm>
            <a:off x="418745" y="813528"/>
            <a:ext cx="17869255" cy="1240150"/>
          </a:xfrm>
          <a:prstGeom prst="rect">
            <a:avLst/>
          </a:prstGeom>
        </p:spPr>
        <p:txBody>
          <a:bodyPr lIns="0" tIns="0" rIns="0" bIns="0" rtlCol="0" anchor="t">
            <a:spAutoFit/>
          </a:bodyPr>
          <a:lstStyle/>
          <a:p>
            <a:pPr algn="ctr">
              <a:lnSpc>
                <a:spcPts val="4859"/>
              </a:lnSpc>
              <a:spcBef>
                <a:spcPct val="0"/>
              </a:spcBef>
            </a:pPr>
            <a:r>
              <a:rPr lang="en-US" sz="4499" b="1">
                <a:solidFill>
                  <a:srgbClr val="FCEBAB"/>
                </a:solidFill>
                <a:latin typeface="Vollkorn Bold"/>
                <a:ea typeface="Vollkorn Bold"/>
                <a:cs typeface="Vollkorn Bold"/>
                <a:sym typeface="Vollkorn Bold"/>
              </a:rPr>
              <a:t>ANALYZE GREEN CAB USAGE PATTERNS AND IDENTIFY KEY FACTORS THAT INFLUENCE DRIVER INCENTIVES.</a:t>
            </a:r>
          </a:p>
        </p:txBody>
      </p:sp>
      <p:sp>
        <p:nvSpPr>
          <p:cNvPr id="10" name="TextBox 10"/>
          <p:cNvSpPr txBox="1"/>
          <p:nvPr/>
        </p:nvSpPr>
        <p:spPr>
          <a:xfrm>
            <a:off x="3989135" y="2746868"/>
            <a:ext cx="10728474" cy="644344"/>
          </a:xfrm>
          <a:prstGeom prst="rect">
            <a:avLst/>
          </a:prstGeom>
        </p:spPr>
        <p:txBody>
          <a:bodyPr wrap="square" lIns="0" tIns="0" rIns="0" bIns="0" rtlCol="0" anchor="t">
            <a:spAutoFit/>
          </a:bodyPr>
          <a:lstStyle/>
          <a:p>
            <a:pPr algn="ctr">
              <a:lnSpc>
                <a:spcPts val="4859"/>
              </a:lnSpc>
              <a:spcBef>
                <a:spcPct val="0"/>
              </a:spcBef>
            </a:pPr>
            <a:r>
              <a:rPr lang="en-US" sz="4499" b="1" dirty="0">
                <a:solidFill>
                  <a:srgbClr val="FFFFFF"/>
                </a:solidFill>
                <a:latin typeface="Vollkorn Bold"/>
                <a:ea typeface="Vollkorn Bold"/>
                <a:cs typeface="Vollkorn Bold"/>
                <a:sym typeface="Vollkorn Bold"/>
              </a:rPr>
              <a:t>3986 (observations) x 20 (variables)</a:t>
            </a:r>
          </a:p>
        </p:txBody>
      </p:sp>
      <p:sp>
        <p:nvSpPr>
          <p:cNvPr id="11" name="TextBox 11"/>
          <p:cNvSpPr txBox="1"/>
          <p:nvPr/>
        </p:nvSpPr>
        <p:spPr>
          <a:xfrm>
            <a:off x="963961" y="9254132"/>
            <a:ext cx="2614716" cy="542456"/>
          </a:xfrm>
          <a:prstGeom prst="rect">
            <a:avLst/>
          </a:prstGeom>
        </p:spPr>
        <p:txBody>
          <a:bodyPr lIns="0" tIns="0" rIns="0" bIns="0" rtlCol="0" anchor="t">
            <a:spAutoFit/>
          </a:bodyPr>
          <a:lstStyle/>
          <a:p>
            <a:pPr algn="ctr">
              <a:lnSpc>
                <a:spcPts val="4177"/>
              </a:lnSpc>
              <a:spcBef>
                <a:spcPct val="0"/>
              </a:spcBef>
            </a:pPr>
            <a:r>
              <a:rPr lang="en-US" sz="3600" b="1" dirty="0">
                <a:solidFill>
                  <a:srgbClr val="FFFFFF"/>
                </a:solidFill>
                <a:latin typeface="Vollkorn Bold"/>
                <a:ea typeface="Vollkorn Bold"/>
                <a:cs typeface="Vollkorn Bold"/>
                <a:sym typeface="Vollkorn Bold"/>
              </a:rPr>
              <a:t>NA VALUES</a:t>
            </a:r>
          </a:p>
        </p:txBody>
      </p:sp>
      <p:sp>
        <p:nvSpPr>
          <p:cNvPr id="12" name="TextBox 12"/>
          <p:cNvSpPr txBox="1"/>
          <p:nvPr/>
        </p:nvSpPr>
        <p:spPr>
          <a:xfrm>
            <a:off x="4084663" y="9254132"/>
            <a:ext cx="3546094" cy="542456"/>
          </a:xfrm>
          <a:prstGeom prst="rect">
            <a:avLst/>
          </a:prstGeom>
        </p:spPr>
        <p:txBody>
          <a:bodyPr lIns="0" tIns="0" rIns="0" bIns="0" rtlCol="0" anchor="t">
            <a:spAutoFit/>
          </a:bodyPr>
          <a:lstStyle/>
          <a:p>
            <a:pPr algn="ctr">
              <a:lnSpc>
                <a:spcPts val="4177"/>
              </a:lnSpc>
              <a:spcBef>
                <a:spcPct val="0"/>
              </a:spcBef>
            </a:pPr>
            <a:r>
              <a:rPr lang="en-US" sz="3600" b="1" dirty="0">
                <a:solidFill>
                  <a:srgbClr val="FFFFFF"/>
                </a:solidFill>
                <a:latin typeface="Vollkorn Bold"/>
                <a:ea typeface="Vollkorn Bold"/>
                <a:cs typeface="Vollkorn Bold"/>
                <a:sym typeface="Vollkorn Bold"/>
              </a:rPr>
              <a:t>DISTRIBUTION</a:t>
            </a:r>
          </a:p>
        </p:txBody>
      </p:sp>
      <p:sp>
        <p:nvSpPr>
          <p:cNvPr id="13" name="TextBox 13"/>
          <p:cNvSpPr txBox="1"/>
          <p:nvPr/>
        </p:nvSpPr>
        <p:spPr>
          <a:xfrm>
            <a:off x="11167975" y="9254132"/>
            <a:ext cx="2648696" cy="542456"/>
          </a:xfrm>
          <a:prstGeom prst="rect">
            <a:avLst/>
          </a:prstGeom>
        </p:spPr>
        <p:txBody>
          <a:bodyPr lIns="0" tIns="0" rIns="0" bIns="0" rtlCol="0" anchor="t">
            <a:spAutoFit/>
          </a:bodyPr>
          <a:lstStyle/>
          <a:p>
            <a:pPr algn="ctr">
              <a:lnSpc>
                <a:spcPts val="4177"/>
              </a:lnSpc>
              <a:spcBef>
                <a:spcPct val="0"/>
              </a:spcBef>
            </a:pPr>
            <a:r>
              <a:rPr lang="en-US" sz="3600" b="1" dirty="0">
                <a:solidFill>
                  <a:srgbClr val="FFFFFF"/>
                </a:solidFill>
                <a:latin typeface="Vollkorn Bold"/>
                <a:ea typeface="Vollkorn Bold"/>
                <a:cs typeface="Vollkorn Bold"/>
                <a:sym typeface="Vollkorn Bold"/>
              </a:rPr>
              <a:t>DATA TYPE</a:t>
            </a:r>
          </a:p>
        </p:txBody>
      </p:sp>
      <p:sp>
        <p:nvSpPr>
          <p:cNvPr id="14" name="TextBox 14"/>
          <p:cNvSpPr txBox="1"/>
          <p:nvPr/>
        </p:nvSpPr>
        <p:spPr>
          <a:xfrm>
            <a:off x="14418848" y="9254132"/>
            <a:ext cx="3511705" cy="542456"/>
          </a:xfrm>
          <a:prstGeom prst="rect">
            <a:avLst/>
          </a:prstGeom>
        </p:spPr>
        <p:txBody>
          <a:bodyPr lIns="0" tIns="0" rIns="0" bIns="0" rtlCol="0" anchor="t">
            <a:spAutoFit/>
          </a:bodyPr>
          <a:lstStyle/>
          <a:p>
            <a:pPr algn="ctr">
              <a:lnSpc>
                <a:spcPts val="4177"/>
              </a:lnSpc>
              <a:spcBef>
                <a:spcPct val="0"/>
              </a:spcBef>
            </a:pPr>
            <a:r>
              <a:rPr lang="en-US" sz="3600" b="1" dirty="0">
                <a:solidFill>
                  <a:srgbClr val="FFFFFF"/>
                </a:solidFill>
                <a:latin typeface="Vollkorn Bold"/>
                <a:ea typeface="Vollkorn Bold"/>
                <a:cs typeface="Vollkorn Bold"/>
                <a:sym typeface="Vollkorn Bold"/>
              </a:rPr>
              <a:t>CORRELATION</a:t>
            </a:r>
          </a:p>
        </p:txBody>
      </p:sp>
      <p:sp>
        <p:nvSpPr>
          <p:cNvPr id="15" name="TextBox 15"/>
          <p:cNvSpPr txBox="1"/>
          <p:nvPr/>
        </p:nvSpPr>
        <p:spPr>
          <a:xfrm>
            <a:off x="8138845" y="9254132"/>
            <a:ext cx="2429055" cy="542456"/>
          </a:xfrm>
          <a:prstGeom prst="rect">
            <a:avLst/>
          </a:prstGeom>
        </p:spPr>
        <p:txBody>
          <a:bodyPr lIns="0" tIns="0" rIns="0" bIns="0" rtlCol="0" anchor="t">
            <a:spAutoFit/>
          </a:bodyPr>
          <a:lstStyle/>
          <a:p>
            <a:pPr algn="ctr">
              <a:lnSpc>
                <a:spcPts val="4177"/>
              </a:lnSpc>
              <a:spcBef>
                <a:spcPct val="0"/>
              </a:spcBef>
            </a:pPr>
            <a:r>
              <a:rPr lang="en-US" sz="3600" b="1" dirty="0">
                <a:solidFill>
                  <a:srgbClr val="FFFFFF"/>
                </a:solidFill>
                <a:latin typeface="Vollkorn Bold"/>
                <a:ea typeface="Vollkorn Bold"/>
                <a:cs typeface="Vollkorn Bold"/>
                <a:sym typeface="Vollkorn Bold"/>
              </a:rPr>
              <a:t>OUTLIERS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4A8B9"/>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7999"/>
            </a:blip>
            <a:stretch>
              <a:fillRect t="-76328" b="-1448"/>
            </a:stretch>
          </a:blipFill>
        </p:spPr>
        <p:txBody>
          <a:bodyPr/>
          <a:lstStyle/>
          <a:p>
            <a:endParaRPr lang="en-US"/>
          </a:p>
        </p:txBody>
      </p:sp>
      <p:sp>
        <p:nvSpPr>
          <p:cNvPr id="3" name="Freeform 3"/>
          <p:cNvSpPr/>
          <p:nvPr/>
        </p:nvSpPr>
        <p:spPr>
          <a:xfrm>
            <a:off x="1418769" y="4347799"/>
            <a:ext cx="2668868" cy="2668868"/>
          </a:xfrm>
          <a:custGeom>
            <a:avLst/>
            <a:gdLst/>
            <a:ahLst/>
            <a:cxnLst/>
            <a:rect l="l" t="t" r="r" b="b"/>
            <a:pathLst>
              <a:path w="2668868" h="2668868">
                <a:moveTo>
                  <a:pt x="0" y="0"/>
                </a:moveTo>
                <a:lnTo>
                  <a:pt x="2668868" y="0"/>
                </a:lnTo>
                <a:lnTo>
                  <a:pt x="2668868" y="2668869"/>
                </a:lnTo>
                <a:lnTo>
                  <a:pt x="0" y="26688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5280272" y="4148543"/>
            <a:ext cx="2035148" cy="2945608"/>
          </a:xfrm>
          <a:custGeom>
            <a:avLst/>
            <a:gdLst/>
            <a:ahLst/>
            <a:cxnLst/>
            <a:rect l="l" t="t" r="r" b="b"/>
            <a:pathLst>
              <a:path w="2035148" h="2945608">
                <a:moveTo>
                  <a:pt x="0" y="0"/>
                </a:moveTo>
                <a:lnTo>
                  <a:pt x="2035148" y="0"/>
                </a:lnTo>
                <a:lnTo>
                  <a:pt x="2035148" y="2945608"/>
                </a:lnTo>
                <a:lnTo>
                  <a:pt x="0" y="29456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6369064" y="4270316"/>
            <a:ext cx="2805459" cy="2823835"/>
          </a:xfrm>
          <a:custGeom>
            <a:avLst/>
            <a:gdLst/>
            <a:ahLst/>
            <a:cxnLst/>
            <a:rect l="l" t="t" r="r" b="b"/>
            <a:pathLst>
              <a:path w="2805459" h="2823835">
                <a:moveTo>
                  <a:pt x="0" y="0"/>
                </a:moveTo>
                <a:lnTo>
                  <a:pt x="2805459" y="0"/>
                </a:lnTo>
                <a:lnTo>
                  <a:pt x="2805459" y="2823835"/>
                </a:lnTo>
                <a:lnTo>
                  <a:pt x="0" y="28238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a:off x="10963799" y="4706020"/>
            <a:ext cx="2968203" cy="2388131"/>
          </a:xfrm>
          <a:custGeom>
            <a:avLst/>
            <a:gdLst/>
            <a:ahLst/>
            <a:cxnLst/>
            <a:rect l="l" t="t" r="r" b="b"/>
            <a:pathLst>
              <a:path w="2968203" h="2388131">
                <a:moveTo>
                  <a:pt x="0" y="0"/>
                </a:moveTo>
                <a:lnTo>
                  <a:pt x="2968203" y="0"/>
                </a:lnTo>
                <a:lnTo>
                  <a:pt x="2968203" y="2388131"/>
                </a:lnTo>
                <a:lnTo>
                  <a:pt x="0" y="238813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 name="TextBox 7"/>
          <p:cNvSpPr txBox="1"/>
          <p:nvPr/>
        </p:nvSpPr>
        <p:spPr>
          <a:xfrm>
            <a:off x="496076" y="7383603"/>
            <a:ext cx="4514255" cy="428244"/>
          </a:xfrm>
          <a:prstGeom prst="rect">
            <a:avLst/>
          </a:prstGeom>
        </p:spPr>
        <p:txBody>
          <a:bodyPr lIns="0" tIns="0" rIns="0" bIns="0" rtlCol="0" anchor="t">
            <a:spAutoFit/>
          </a:bodyPr>
          <a:lstStyle/>
          <a:p>
            <a:pPr algn="ctr">
              <a:lnSpc>
                <a:spcPts val="3347"/>
              </a:lnSpc>
              <a:spcBef>
                <a:spcPct val="0"/>
              </a:spcBef>
            </a:pPr>
            <a:r>
              <a:rPr lang="en-US" sz="3099" b="1">
                <a:solidFill>
                  <a:srgbClr val="000000"/>
                </a:solidFill>
                <a:latin typeface="Vollkorn Bold"/>
                <a:ea typeface="Vollkorn Bold"/>
                <a:cs typeface="Vollkorn Bold"/>
                <a:sym typeface="Vollkorn Bold"/>
              </a:rPr>
              <a:t>PEAK HOUR/ OFF-PEAK</a:t>
            </a:r>
          </a:p>
        </p:txBody>
      </p:sp>
      <p:sp>
        <p:nvSpPr>
          <p:cNvPr id="8" name="TextBox 8"/>
          <p:cNvSpPr txBox="1"/>
          <p:nvPr/>
        </p:nvSpPr>
        <p:spPr>
          <a:xfrm>
            <a:off x="14951795" y="7355028"/>
            <a:ext cx="2692103" cy="428244"/>
          </a:xfrm>
          <a:prstGeom prst="rect">
            <a:avLst/>
          </a:prstGeom>
        </p:spPr>
        <p:txBody>
          <a:bodyPr lIns="0" tIns="0" rIns="0" bIns="0" rtlCol="0" anchor="t">
            <a:spAutoFit/>
          </a:bodyPr>
          <a:lstStyle/>
          <a:p>
            <a:pPr algn="ctr">
              <a:lnSpc>
                <a:spcPts val="3347"/>
              </a:lnSpc>
              <a:spcBef>
                <a:spcPct val="0"/>
              </a:spcBef>
            </a:pPr>
            <a:r>
              <a:rPr lang="en-US" sz="3099" b="1">
                <a:solidFill>
                  <a:srgbClr val="000000"/>
                </a:solidFill>
                <a:latin typeface="Vollkorn Bold"/>
                <a:ea typeface="Vollkorn Bold"/>
                <a:cs typeface="Vollkorn Bold"/>
                <a:sym typeface="Vollkorn Bold"/>
              </a:rPr>
              <a:t>TRAVEL TIME</a:t>
            </a:r>
          </a:p>
        </p:txBody>
      </p:sp>
      <p:sp>
        <p:nvSpPr>
          <p:cNvPr id="9" name="TextBox 9"/>
          <p:cNvSpPr txBox="1"/>
          <p:nvPr/>
        </p:nvSpPr>
        <p:spPr>
          <a:xfrm>
            <a:off x="10608633" y="7355028"/>
            <a:ext cx="3678535" cy="428244"/>
          </a:xfrm>
          <a:prstGeom prst="rect">
            <a:avLst/>
          </a:prstGeom>
        </p:spPr>
        <p:txBody>
          <a:bodyPr lIns="0" tIns="0" rIns="0" bIns="0" rtlCol="0" anchor="t">
            <a:spAutoFit/>
          </a:bodyPr>
          <a:lstStyle/>
          <a:p>
            <a:pPr algn="ctr">
              <a:lnSpc>
                <a:spcPts val="3347"/>
              </a:lnSpc>
              <a:spcBef>
                <a:spcPct val="0"/>
              </a:spcBef>
            </a:pPr>
            <a:r>
              <a:rPr lang="en-US" sz="3099" b="1">
                <a:solidFill>
                  <a:srgbClr val="000000"/>
                </a:solidFill>
                <a:latin typeface="Vollkorn Bold"/>
                <a:ea typeface="Vollkorn Bold"/>
                <a:cs typeface="Vollkorn Bold"/>
                <a:sym typeface="Vollkorn Bold"/>
              </a:rPr>
              <a:t>INCOME BOROUGH</a:t>
            </a:r>
          </a:p>
        </p:txBody>
      </p:sp>
      <p:sp>
        <p:nvSpPr>
          <p:cNvPr id="10" name="TextBox 10"/>
          <p:cNvSpPr txBox="1"/>
          <p:nvPr/>
        </p:nvSpPr>
        <p:spPr>
          <a:xfrm>
            <a:off x="5623311" y="7374078"/>
            <a:ext cx="4296966" cy="428244"/>
          </a:xfrm>
          <a:prstGeom prst="rect">
            <a:avLst/>
          </a:prstGeom>
        </p:spPr>
        <p:txBody>
          <a:bodyPr lIns="0" tIns="0" rIns="0" bIns="0" rtlCol="0" anchor="t">
            <a:spAutoFit/>
          </a:bodyPr>
          <a:lstStyle/>
          <a:p>
            <a:pPr algn="ctr">
              <a:lnSpc>
                <a:spcPts val="3347"/>
              </a:lnSpc>
              <a:spcBef>
                <a:spcPct val="0"/>
              </a:spcBef>
            </a:pPr>
            <a:r>
              <a:rPr lang="en-US" sz="3099" b="1">
                <a:solidFill>
                  <a:srgbClr val="000000"/>
                </a:solidFill>
                <a:latin typeface="Vollkorn Bold"/>
                <a:ea typeface="Vollkorn Bold"/>
                <a:cs typeface="Vollkorn Bold"/>
                <a:sym typeface="Vollkorn Bold"/>
              </a:rPr>
              <a:t>DAY OF WEEK PICK UP</a:t>
            </a:r>
          </a:p>
        </p:txBody>
      </p:sp>
      <p:grpSp>
        <p:nvGrpSpPr>
          <p:cNvPr id="11" name="Group 11"/>
          <p:cNvGrpSpPr/>
          <p:nvPr/>
        </p:nvGrpSpPr>
        <p:grpSpPr>
          <a:xfrm>
            <a:off x="399772" y="399775"/>
            <a:ext cx="17488455" cy="9487450"/>
            <a:chOff x="0" y="0"/>
            <a:chExt cx="23317940" cy="12649934"/>
          </a:xfrm>
        </p:grpSpPr>
        <p:sp>
          <p:nvSpPr>
            <p:cNvPr id="12" name="Freeform 12"/>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F8EAD4"/>
            </a:solidFill>
          </p:spPr>
          <p:txBody>
            <a:bodyPr/>
            <a:lstStyle/>
            <a:p>
              <a:endParaRPr lang="en-US"/>
            </a:p>
          </p:txBody>
        </p:sp>
      </p:grpSp>
      <p:sp>
        <p:nvSpPr>
          <p:cNvPr id="13" name="TextBox 13"/>
          <p:cNvSpPr txBox="1"/>
          <p:nvPr/>
        </p:nvSpPr>
        <p:spPr>
          <a:xfrm>
            <a:off x="1207363" y="2220584"/>
            <a:ext cx="15934320" cy="1544962"/>
          </a:xfrm>
          <a:prstGeom prst="rect">
            <a:avLst/>
          </a:prstGeom>
        </p:spPr>
        <p:txBody>
          <a:bodyPr lIns="0" tIns="0" rIns="0" bIns="0" rtlCol="0" anchor="t">
            <a:spAutoFit/>
          </a:bodyPr>
          <a:lstStyle/>
          <a:p>
            <a:pPr algn="ctr">
              <a:lnSpc>
                <a:spcPts val="6209"/>
              </a:lnSpc>
            </a:pPr>
            <a:r>
              <a:rPr lang="en-US" sz="4499">
                <a:solidFill>
                  <a:srgbClr val="000000"/>
                </a:solidFill>
                <a:latin typeface="Vollkorn"/>
                <a:ea typeface="Vollkorn"/>
                <a:cs typeface="Vollkorn"/>
                <a:sym typeface="Vollkorn"/>
              </a:rPr>
              <a:t>DO PASSENGER</a:t>
            </a:r>
            <a:r>
              <a:rPr lang="en-US" sz="4499" b="1">
                <a:solidFill>
                  <a:srgbClr val="000000"/>
                </a:solidFill>
                <a:latin typeface="Vollkorn Bold"/>
                <a:ea typeface="Vollkorn Bold"/>
                <a:cs typeface="Vollkorn Bold"/>
                <a:sym typeface="Vollkorn Bold"/>
              </a:rPr>
              <a:t> </a:t>
            </a:r>
            <a:r>
              <a:rPr lang="en-US" sz="4499" b="1" u="sng">
                <a:solidFill>
                  <a:srgbClr val="F2EDD8"/>
                </a:solidFill>
                <a:latin typeface="Vollkorn Bold"/>
                <a:ea typeface="Vollkorn Bold"/>
                <a:cs typeface="Vollkorn Bold"/>
                <a:sym typeface="Vollkorn Bold"/>
              </a:rPr>
              <a:t>CHARACTERISTICS/ DECISIONS</a:t>
            </a:r>
          </a:p>
          <a:p>
            <a:pPr algn="ctr">
              <a:lnSpc>
                <a:spcPts val="6209"/>
              </a:lnSpc>
            </a:pPr>
            <a:r>
              <a:rPr lang="en-US" sz="4499">
                <a:solidFill>
                  <a:srgbClr val="000000"/>
                </a:solidFill>
                <a:latin typeface="Vollkorn"/>
                <a:ea typeface="Vollkorn"/>
                <a:cs typeface="Vollkorn"/>
                <a:sym typeface="Vollkorn"/>
              </a:rPr>
              <a:t>INFLUENCE TIP AMOUNTS? </a:t>
            </a:r>
          </a:p>
        </p:txBody>
      </p:sp>
      <p:sp>
        <p:nvSpPr>
          <p:cNvPr id="14" name="TextBox 14"/>
          <p:cNvSpPr txBox="1"/>
          <p:nvPr/>
        </p:nvSpPr>
        <p:spPr>
          <a:xfrm>
            <a:off x="5252481" y="1018534"/>
            <a:ext cx="7416105" cy="685795"/>
          </a:xfrm>
          <a:prstGeom prst="rect">
            <a:avLst/>
          </a:prstGeom>
        </p:spPr>
        <p:txBody>
          <a:bodyPr lIns="0" tIns="0" rIns="0" bIns="0" rtlCol="0" anchor="t">
            <a:spAutoFit/>
          </a:bodyPr>
          <a:lstStyle/>
          <a:p>
            <a:pPr algn="ctr">
              <a:lnSpc>
                <a:spcPts val="5399"/>
              </a:lnSpc>
              <a:spcBef>
                <a:spcPct val="0"/>
              </a:spcBef>
            </a:pPr>
            <a:r>
              <a:rPr lang="en-US" sz="4999" b="1">
                <a:solidFill>
                  <a:srgbClr val="F2EDD8"/>
                </a:solidFill>
                <a:latin typeface="Vollkorn Bold"/>
                <a:ea typeface="Vollkorn Bold"/>
                <a:cs typeface="Vollkorn Bold"/>
                <a:sym typeface="Vollkorn Bold"/>
              </a:rPr>
              <a:t>FEATURE ENGINEERING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7463B"/>
        </a:solidFill>
        <a:effectLst/>
      </p:bgPr>
    </p:bg>
    <p:spTree>
      <p:nvGrpSpPr>
        <p:cNvPr id="1" name=""/>
        <p:cNvGrpSpPr/>
        <p:nvPr/>
      </p:nvGrpSpPr>
      <p:grpSpPr>
        <a:xfrm>
          <a:off x="0" y="0"/>
          <a:ext cx="0" cy="0"/>
          <a:chOff x="0" y="0"/>
          <a:chExt cx="0" cy="0"/>
        </a:xfrm>
      </p:grpSpPr>
      <p:sp>
        <p:nvSpPr>
          <p:cNvPr id="2" name="Freeform 2"/>
          <p:cNvSpPr/>
          <p:nvPr/>
        </p:nvSpPr>
        <p:spPr>
          <a:xfrm>
            <a:off x="270711" y="2238639"/>
            <a:ext cx="8561155" cy="5809722"/>
          </a:xfrm>
          <a:custGeom>
            <a:avLst/>
            <a:gdLst/>
            <a:ahLst/>
            <a:cxnLst/>
            <a:rect l="l" t="t" r="r" b="b"/>
            <a:pathLst>
              <a:path w="8561155" h="5809722">
                <a:moveTo>
                  <a:pt x="0" y="0"/>
                </a:moveTo>
                <a:lnTo>
                  <a:pt x="8561155" y="0"/>
                </a:lnTo>
                <a:lnTo>
                  <a:pt x="8561155" y="5809722"/>
                </a:lnTo>
                <a:lnTo>
                  <a:pt x="0" y="5809722"/>
                </a:lnTo>
                <a:lnTo>
                  <a:pt x="0" y="0"/>
                </a:lnTo>
                <a:close/>
              </a:path>
            </a:pathLst>
          </a:custGeom>
          <a:blipFill>
            <a:blip r:embed="rId3"/>
            <a:stretch>
              <a:fillRect l="-3211"/>
            </a:stretch>
          </a:blipFill>
        </p:spPr>
        <p:txBody>
          <a:bodyPr/>
          <a:lstStyle/>
          <a:p>
            <a:endParaRPr lang="en-US"/>
          </a:p>
        </p:txBody>
      </p:sp>
      <p:sp>
        <p:nvSpPr>
          <p:cNvPr id="3" name="Freeform 3"/>
          <p:cNvSpPr/>
          <p:nvPr/>
        </p:nvSpPr>
        <p:spPr>
          <a:xfrm>
            <a:off x="9247384" y="2238639"/>
            <a:ext cx="8728482" cy="5805223"/>
          </a:xfrm>
          <a:custGeom>
            <a:avLst/>
            <a:gdLst/>
            <a:ahLst/>
            <a:cxnLst/>
            <a:rect l="l" t="t" r="r" b="b"/>
            <a:pathLst>
              <a:path w="8728482" h="5805223">
                <a:moveTo>
                  <a:pt x="0" y="0"/>
                </a:moveTo>
                <a:lnTo>
                  <a:pt x="8728482" y="0"/>
                </a:lnTo>
                <a:lnTo>
                  <a:pt x="8728482" y="5805223"/>
                </a:lnTo>
                <a:lnTo>
                  <a:pt x="0" y="5805223"/>
                </a:lnTo>
                <a:lnTo>
                  <a:pt x="0" y="0"/>
                </a:lnTo>
                <a:close/>
              </a:path>
            </a:pathLst>
          </a:custGeom>
          <a:blipFill>
            <a:blip r:embed="rId4"/>
            <a:stretch>
              <a:fillRect l="-1540"/>
            </a:stretch>
          </a:blipFill>
        </p:spPr>
        <p:txBody>
          <a:bodyPr/>
          <a:lstStyle/>
          <a:p>
            <a:endParaRPr lang="en-US"/>
          </a:p>
        </p:txBody>
      </p:sp>
      <p:sp>
        <p:nvSpPr>
          <p:cNvPr id="4" name="Freeform 4"/>
          <p:cNvSpPr/>
          <p:nvPr/>
        </p:nvSpPr>
        <p:spPr>
          <a:xfrm>
            <a:off x="0" y="-2249"/>
            <a:ext cx="18226953" cy="10287000"/>
          </a:xfrm>
          <a:custGeom>
            <a:avLst/>
            <a:gdLst/>
            <a:ahLst/>
            <a:cxnLst/>
            <a:rect l="l" t="t" r="r" b="b"/>
            <a:pathLst>
              <a:path w="18226953" h="10287000">
                <a:moveTo>
                  <a:pt x="0" y="0"/>
                </a:moveTo>
                <a:lnTo>
                  <a:pt x="18226953" y="0"/>
                </a:lnTo>
                <a:lnTo>
                  <a:pt x="18226953" y="10287000"/>
                </a:lnTo>
                <a:lnTo>
                  <a:pt x="0" y="10287000"/>
                </a:lnTo>
                <a:lnTo>
                  <a:pt x="0" y="0"/>
                </a:lnTo>
                <a:close/>
              </a:path>
            </a:pathLst>
          </a:custGeom>
          <a:blipFill>
            <a:blip r:embed="rId5">
              <a:alphaModFix amt="5000"/>
            </a:blip>
            <a:stretch>
              <a:fillRect l="-1247" t="-54414" r="-2" b="-24982"/>
            </a:stretch>
          </a:blipFill>
        </p:spPr>
        <p:txBody>
          <a:bodyPr/>
          <a:lstStyle/>
          <a:p>
            <a:endParaRPr lang="en-US"/>
          </a:p>
        </p:txBody>
      </p:sp>
      <p:sp>
        <p:nvSpPr>
          <p:cNvPr id="5" name="TextBox 5"/>
          <p:cNvSpPr txBox="1"/>
          <p:nvPr/>
        </p:nvSpPr>
        <p:spPr>
          <a:xfrm>
            <a:off x="1617640" y="398150"/>
            <a:ext cx="15259488" cy="630550"/>
          </a:xfrm>
          <a:prstGeom prst="rect">
            <a:avLst/>
          </a:prstGeom>
        </p:spPr>
        <p:txBody>
          <a:bodyPr lIns="0" tIns="0" rIns="0" bIns="0" rtlCol="0" anchor="t">
            <a:spAutoFit/>
          </a:bodyPr>
          <a:lstStyle/>
          <a:p>
            <a:pPr algn="ctr">
              <a:lnSpc>
                <a:spcPts val="4859"/>
              </a:lnSpc>
              <a:spcBef>
                <a:spcPct val="0"/>
              </a:spcBef>
            </a:pPr>
            <a:r>
              <a:rPr lang="en-US" sz="4499" b="1">
                <a:solidFill>
                  <a:srgbClr val="F2EDD8"/>
                </a:solidFill>
                <a:latin typeface="Vollkorn Bold"/>
                <a:ea typeface="Vollkorn Bold"/>
                <a:cs typeface="Vollkorn Bold"/>
                <a:sym typeface="Vollkorn Bold"/>
              </a:rPr>
              <a:t>OBSERVATION OF FEATURE ENGINEERING 1</a:t>
            </a:r>
          </a:p>
        </p:txBody>
      </p:sp>
      <p:grpSp>
        <p:nvGrpSpPr>
          <p:cNvPr id="6" name="Group 6"/>
          <p:cNvGrpSpPr/>
          <p:nvPr/>
        </p:nvGrpSpPr>
        <p:grpSpPr>
          <a:xfrm>
            <a:off x="3319044" y="1870994"/>
            <a:ext cx="2464489" cy="735291"/>
            <a:chOff x="0" y="0"/>
            <a:chExt cx="3285986" cy="980388"/>
          </a:xfrm>
        </p:grpSpPr>
        <p:sp>
          <p:nvSpPr>
            <p:cNvPr id="7" name="Freeform 7"/>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grpSp>
        <p:nvGrpSpPr>
          <p:cNvPr id="8" name="Group 8"/>
          <p:cNvGrpSpPr/>
          <p:nvPr/>
        </p:nvGrpSpPr>
        <p:grpSpPr>
          <a:xfrm>
            <a:off x="12379380" y="1870994"/>
            <a:ext cx="2464489" cy="735291"/>
            <a:chOff x="0" y="0"/>
            <a:chExt cx="3285986" cy="980388"/>
          </a:xfrm>
        </p:grpSpPr>
        <p:sp>
          <p:nvSpPr>
            <p:cNvPr id="9" name="Freeform 9"/>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8364"/>
        </a:solidFill>
        <a:effectLst/>
      </p:bgPr>
    </p:bg>
    <p:spTree>
      <p:nvGrpSpPr>
        <p:cNvPr id="1" name=""/>
        <p:cNvGrpSpPr/>
        <p:nvPr/>
      </p:nvGrpSpPr>
      <p:grpSpPr>
        <a:xfrm>
          <a:off x="0" y="0"/>
          <a:ext cx="0" cy="0"/>
          <a:chOff x="0" y="0"/>
          <a:chExt cx="0" cy="0"/>
        </a:xfrm>
      </p:grpSpPr>
      <p:sp>
        <p:nvSpPr>
          <p:cNvPr id="2" name="Freeform 2"/>
          <p:cNvSpPr/>
          <p:nvPr/>
        </p:nvSpPr>
        <p:spPr>
          <a:xfrm rot="-10800000" flipV="1">
            <a:off x="0" y="-11598"/>
            <a:ext cx="18286526" cy="10298598"/>
          </a:xfrm>
          <a:custGeom>
            <a:avLst/>
            <a:gdLst/>
            <a:ahLst/>
            <a:cxnLst/>
            <a:rect l="l" t="t" r="r" b="b"/>
            <a:pathLst>
              <a:path w="18286526" h="10298598">
                <a:moveTo>
                  <a:pt x="0" y="10298598"/>
                </a:moveTo>
                <a:lnTo>
                  <a:pt x="18286526" y="10298598"/>
                </a:lnTo>
                <a:lnTo>
                  <a:pt x="18286526" y="0"/>
                </a:lnTo>
                <a:lnTo>
                  <a:pt x="0" y="0"/>
                </a:lnTo>
                <a:lnTo>
                  <a:pt x="0" y="10298598"/>
                </a:lnTo>
                <a:close/>
              </a:path>
            </a:pathLst>
          </a:custGeom>
          <a:blipFill>
            <a:blip r:embed="rId3">
              <a:alphaModFix amt="5000"/>
            </a:blip>
            <a:stretch>
              <a:fillRect l="-3754" r="-2272" b="-12578"/>
            </a:stretch>
          </a:blipFill>
        </p:spPr>
        <p:txBody>
          <a:bodyPr/>
          <a:lstStyle/>
          <a:p>
            <a:endParaRPr lang="en-US"/>
          </a:p>
        </p:txBody>
      </p:sp>
      <p:sp>
        <p:nvSpPr>
          <p:cNvPr id="3" name="Freeform 3"/>
          <p:cNvSpPr/>
          <p:nvPr/>
        </p:nvSpPr>
        <p:spPr>
          <a:xfrm>
            <a:off x="342902" y="2236394"/>
            <a:ext cx="8636505" cy="5814212"/>
          </a:xfrm>
          <a:custGeom>
            <a:avLst/>
            <a:gdLst/>
            <a:ahLst/>
            <a:cxnLst/>
            <a:rect l="l" t="t" r="r" b="b"/>
            <a:pathLst>
              <a:path w="8636505" h="5814212">
                <a:moveTo>
                  <a:pt x="0" y="0"/>
                </a:moveTo>
                <a:lnTo>
                  <a:pt x="8636505" y="0"/>
                </a:lnTo>
                <a:lnTo>
                  <a:pt x="8636505" y="5814212"/>
                </a:lnTo>
                <a:lnTo>
                  <a:pt x="0" y="5814212"/>
                </a:lnTo>
                <a:lnTo>
                  <a:pt x="0" y="0"/>
                </a:lnTo>
                <a:close/>
              </a:path>
            </a:pathLst>
          </a:custGeom>
          <a:blipFill>
            <a:blip r:embed="rId4"/>
            <a:stretch>
              <a:fillRect l="-2002"/>
            </a:stretch>
          </a:blipFill>
        </p:spPr>
        <p:txBody>
          <a:bodyPr/>
          <a:lstStyle/>
          <a:p>
            <a:endParaRPr lang="en-US"/>
          </a:p>
        </p:txBody>
      </p:sp>
      <p:sp>
        <p:nvSpPr>
          <p:cNvPr id="4" name="Freeform 4"/>
          <p:cNvSpPr/>
          <p:nvPr/>
        </p:nvSpPr>
        <p:spPr>
          <a:xfrm>
            <a:off x="9401757" y="2234152"/>
            <a:ext cx="8574110" cy="5816454"/>
          </a:xfrm>
          <a:custGeom>
            <a:avLst/>
            <a:gdLst/>
            <a:ahLst/>
            <a:cxnLst/>
            <a:rect l="l" t="t" r="r" b="b"/>
            <a:pathLst>
              <a:path w="8574110" h="5816454">
                <a:moveTo>
                  <a:pt x="0" y="0"/>
                </a:moveTo>
                <a:lnTo>
                  <a:pt x="8574109" y="0"/>
                </a:lnTo>
                <a:lnTo>
                  <a:pt x="8574109" y="5816454"/>
                </a:lnTo>
                <a:lnTo>
                  <a:pt x="0" y="5816454"/>
                </a:lnTo>
                <a:lnTo>
                  <a:pt x="0" y="0"/>
                </a:lnTo>
                <a:close/>
              </a:path>
            </a:pathLst>
          </a:custGeom>
          <a:blipFill>
            <a:blip r:embed="rId5"/>
            <a:stretch>
              <a:fillRect l="-2589"/>
            </a:stretch>
          </a:blipFill>
        </p:spPr>
        <p:txBody>
          <a:bodyPr/>
          <a:lstStyle/>
          <a:p>
            <a:endParaRPr lang="en-US"/>
          </a:p>
        </p:txBody>
      </p:sp>
      <p:sp>
        <p:nvSpPr>
          <p:cNvPr id="5" name="TextBox 5"/>
          <p:cNvSpPr txBox="1"/>
          <p:nvPr/>
        </p:nvSpPr>
        <p:spPr>
          <a:xfrm>
            <a:off x="905855" y="432437"/>
            <a:ext cx="16353445" cy="630550"/>
          </a:xfrm>
          <a:prstGeom prst="rect">
            <a:avLst/>
          </a:prstGeom>
        </p:spPr>
        <p:txBody>
          <a:bodyPr lIns="0" tIns="0" rIns="0" bIns="0" rtlCol="0" anchor="t">
            <a:spAutoFit/>
          </a:bodyPr>
          <a:lstStyle/>
          <a:p>
            <a:pPr algn="ctr">
              <a:lnSpc>
                <a:spcPts val="4859"/>
              </a:lnSpc>
              <a:spcBef>
                <a:spcPct val="0"/>
              </a:spcBef>
            </a:pPr>
            <a:r>
              <a:rPr lang="en-US" sz="4499" b="1">
                <a:solidFill>
                  <a:srgbClr val="F2EDD8"/>
                </a:solidFill>
                <a:latin typeface="Vollkorn Bold"/>
                <a:ea typeface="Vollkorn Bold"/>
                <a:cs typeface="Vollkorn Bold"/>
                <a:sym typeface="Vollkorn Bold"/>
              </a:rPr>
              <a:t>OBSERVATION OF FEATURE ENGINEERING 11</a:t>
            </a:r>
          </a:p>
        </p:txBody>
      </p:sp>
      <p:grpSp>
        <p:nvGrpSpPr>
          <p:cNvPr id="6" name="Group 6"/>
          <p:cNvGrpSpPr/>
          <p:nvPr/>
        </p:nvGrpSpPr>
        <p:grpSpPr>
          <a:xfrm>
            <a:off x="3428910" y="1866506"/>
            <a:ext cx="2464489" cy="735291"/>
            <a:chOff x="0" y="0"/>
            <a:chExt cx="3285986" cy="980388"/>
          </a:xfrm>
        </p:grpSpPr>
        <p:sp>
          <p:nvSpPr>
            <p:cNvPr id="7" name="Freeform 7"/>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grpSp>
        <p:nvGrpSpPr>
          <p:cNvPr id="8" name="Group 8"/>
          <p:cNvGrpSpPr/>
          <p:nvPr/>
        </p:nvGrpSpPr>
        <p:grpSpPr>
          <a:xfrm>
            <a:off x="12456567" y="1868748"/>
            <a:ext cx="2464489" cy="735291"/>
            <a:chOff x="0" y="0"/>
            <a:chExt cx="3285986" cy="980388"/>
          </a:xfrm>
        </p:grpSpPr>
        <p:sp>
          <p:nvSpPr>
            <p:cNvPr id="9" name="Freeform 9"/>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6777"/>
        </a:solidFill>
        <a:effectLst/>
      </p:bgPr>
    </p:bg>
    <p:spTree>
      <p:nvGrpSpPr>
        <p:cNvPr id="1" name=""/>
        <p:cNvGrpSpPr/>
        <p:nvPr/>
      </p:nvGrpSpPr>
      <p:grpSpPr>
        <a:xfrm>
          <a:off x="0" y="0"/>
          <a:ext cx="0" cy="0"/>
          <a:chOff x="0" y="0"/>
          <a:chExt cx="0" cy="0"/>
        </a:xfrm>
      </p:grpSpPr>
      <p:sp>
        <p:nvSpPr>
          <p:cNvPr id="2" name="Freeform 2"/>
          <p:cNvSpPr/>
          <p:nvPr/>
        </p:nvSpPr>
        <p:spPr>
          <a:xfrm rot="-10800000" flipV="1">
            <a:off x="0" y="0"/>
            <a:ext cx="18288012" cy="10287000"/>
          </a:xfrm>
          <a:custGeom>
            <a:avLst/>
            <a:gdLst/>
            <a:ahLst/>
            <a:cxnLst/>
            <a:rect l="l" t="t" r="r" b="b"/>
            <a:pathLst>
              <a:path w="18288012" h="10287000">
                <a:moveTo>
                  <a:pt x="0" y="10287000"/>
                </a:moveTo>
                <a:lnTo>
                  <a:pt x="18288012" y="10287000"/>
                </a:lnTo>
                <a:lnTo>
                  <a:pt x="18288012" y="0"/>
                </a:lnTo>
                <a:lnTo>
                  <a:pt x="0" y="0"/>
                </a:lnTo>
                <a:lnTo>
                  <a:pt x="0" y="10287000"/>
                </a:lnTo>
                <a:close/>
              </a:path>
            </a:pathLst>
          </a:custGeom>
          <a:blipFill>
            <a:blip r:embed="rId3">
              <a:alphaModFix amt="5000"/>
            </a:blip>
            <a:stretch>
              <a:fillRect l="-3745" r="-2271" b="-12704"/>
            </a:stretch>
          </a:blipFill>
        </p:spPr>
        <p:txBody>
          <a:bodyPr/>
          <a:lstStyle/>
          <a:p>
            <a:endParaRPr lang="en-US"/>
          </a:p>
        </p:txBody>
      </p:sp>
      <p:sp>
        <p:nvSpPr>
          <p:cNvPr id="3" name="Freeform 3"/>
          <p:cNvSpPr/>
          <p:nvPr/>
        </p:nvSpPr>
        <p:spPr>
          <a:xfrm>
            <a:off x="2890812" y="2004248"/>
            <a:ext cx="11882110" cy="7254052"/>
          </a:xfrm>
          <a:custGeom>
            <a:avLst/>
            <a:gdLst/>
            <a:ahLst/>
            <a:cxnLst/>
            <a:rect l="l" t="t" r="r" b="b"/>
            <a:pathLst>
              <a:path w="11882110" h="7254052">
                <a:moveTo>
                  <a:pt x="0" y="0"/>
                </a:moveTo>
                <a:lnTo>
                  <a:pt x="11882109" y="0"/>
                </a:lnTo>
                <a:lnTo>
                  <a:pt x="11882109" y="7254052"/>
                </a:lnTo>
                <a:lnTo>
                  <a:pt x="0" y="7254052"/>
                </a:lnTo>
                <a:lnTo>
                  <a:pt x="0" y="0"/>
                </a:lnTo>
                <a:close/>
              </a:path>
            </a:pathLst>
          </a:custGeom>
          <a:blipFill>
            <a:blip r:embed="rId4"/>
            <a:stretch>
              <a:fillRect t="-1343"/>
            </a:stretch>
          </a:blipFill>
        </p:spPr>
        <p:txBody>
          <a:bodyPr/>
          <a:lstStyle/>
          <a:p>
            <a:endParaRPr lang="en-US"/>
          </a:p>
        </p:txBody>
      </p:sp>
      <p:sp>
        <p:nvSpPr>
          <p:cNvPr id="4" name="TextBox 4"/>
          <p:cNvSpPr txBox="1"/>
          <p:nvPr/>
        </p:nvSpPr>
        <p:spPr>
          <a:xfrm>
            <a:off x="1382587" y="398150"/>
            <a:ext cx="15522837" cy="630550"/>
          </a:xfrm>
          <a:prstGeom prst="rect">
            <a:avLst/>
          </a:prstGeom>
        </p:spPr>
        <p:txBody>
          <a:bodyPr lIns="0" tIns="0" rIns="0" bIns="0" rtlCol="0" anchor="t">
            <a:spAutoFit/>
          </a:bodyPr>
          <a:lstStyle/>
          <a:p>
            <a:pPr algn="ctr">
              <a:lnSpc>
                <a:spcPts val="4859"/>
              </a:lnSpc>
              <a:spcBef>
                <a:spcPct val="0"/>
              </a:spcBef>
            </a:pPr>
            <a:r>
              <a:rPr lang="en-US" sz="4499" b="1">
                <a:solidFill>
                  <a:srgbClr val="F2EDD8"/>
                </a:solidFill>
                <a:latin typeface="Vollkorn Bold"/>
                <a:ea typeface="Vollkorn Bold"/>
                <a:cs typeface="Vollkorn Bold"/>
                <a:sym typeface="Vollkorn Bold"/>
              </a:rPr>
              <a:t>OBSERVATION OF FEATURE ENGINEERING 111</a:t>
            </a:r>
          </a:p>
        </p:txBody>
      </p:sp>
      <p:grpSp>
        <p:nvGrpSpPr>
          <p:cNvPr id="5" name="Group 5"/>
          <p:cNvGrpSpPr/>
          <p:nvPr/>
        </p:nvGrpSpPr>
        <p:grpSpPr>
          <a:xfrm>
            <a:off x="7138174" y="1636603"/>
            <a:ext cx="4011664" cy="735291"/>
            <a:chOff x="0" y="0"/>
            <a:chExt cx="5348885" cy="980388"/>
          </a:xfrm>
        </p:grpSpPr>
        <p:sp>
          <p:nvSpPr>
            <p:cNvPr id="6" name="Freeform 6"/>
            <p:cNvSpPr/>
            <p:nvPr/>
          </p:nvSpPr>
          <p:spPr>
            <a:xfrm>
              <a:off x="0" y="0"/>
              <a:ext cx="5348897" cy="980440"/>
            </a:xfrm>
            <a:custGeom>
              <a:avLst/>
              <a:gdLst/>
              <a:ahLst/>
              <a:cxnLst/>
              <a:rect l="l" t="t" r="r" b="b"/>
              <a:pathLst>
                <a:path w="5348897" h="980440">
                  <a:moveTo>
                    <a:pt x="0" y="0"/>
                  </a:moveTo>
                  <a:lnTo>
                    <a:pt x="5348897" y="0"/>
                  </a:lnTo>
                  <a:lnTo>
                    <a:pt x="5348897" y="980440"/>
                  </a:lnTo>
                  <a:lnTo>
                    <a:pt x="0" y="980440"/>
                  </a:lnTo>
                  <a:close/>
                </a:path>
              </a:pathLst>
            </a:custGeom>
            <a:solidFill>
              <a:srgbClr val="F8EAD4">
                <a:alpha val="63922"/>
              </a:srgbClr>
            </a:solidFill>
          </p:spPr>
          <p:txBody>
            <a:bodyPr/>
            <a:lstStyle/>
            <a:p>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30000"/>
            </a:blip>
            <a:stretch>
              <a:fillRect t="-76328" b="-1448"/>
            </a:stretch>
          </a:blipFill>
        </p:spPr>
        <p:txBody>
          <a:bodyPr/>
          <a:lstStyle/>
          <a:p>
            <a:endParaRPr lang="en-US"/>
          </a:p>
        </p:txBody>
      </p:sp>
      <p:grpSp>
        <p:nvGrpSpPr>
          <p:cNvPr id="3" name="Group 3"/>
          <p:cNvGrpSpPr/>
          <p:nvPr/>
        </p:nvGrpSpPr>
        <p:grpSpPr>
          <a:xfrm>
            <a:off x="399772" y="399774"/>
            <a:ext cx="17488455" cy="9487450"/>
            <a:chOff x="0" y="0"/>
            <a:chExt cx="23317940" cy="12649934"/>
          </a:xfrm>
        </p:grpSpPr>
        <p:sp>
          <p:nvSpPr>
            <p:cNvPr id="4" name="Freeform 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446777"/>
            </a:solidFill>
          </p:spPr>
          <p:txBody>
            <a:bodyPr/>
            <a:lstStyle/>
            <a:p>
              <a:endParaRPr lang="en-US"/>
            </a:p>
          </p:txBody>
        </p:sp>
      </p:grpSp>
      <p:grpSp>
        <p:nvGrpSpPr>
          <p:cNvPr id="5" name="Group 5"/>
          <p:cNvGrpSpPr/>
          <p:nvPr/>
        </p:nvGrpSpPr>
        <p:grpSpPr>
          <a:xfrm>
            <a:off x="1028700" y="4435056"/>
            <a:ext cx="16230600" cy="1530450"/>
            <a:chOff x="0" y="0"/>
            <a:chExt cx="21640800" cy="2040600"/>
          </a:xfrm>
        </p:grpSpPr>
        <p:sp>
          <p:nvSpPr>
            <p:cNvPr id="6" name="Freeform 6"/>
            <p:cNvSpPr/>
            <p:nvPr/>
          </p:nvSpPr>
          <p:spPr>
            <a:xfrm>
              <a:off x="0" y="0"/>
              <a:ext cx="21640800" cy="2040600"/>
            </a:xfrm>
            <a:custGeom>
              <a:avLst/>
              <a:gdLst/>
              <a:ahLst/>
              <a:cxnLst/>
              <a:rect l="l" t="t" r="r" b="b"/>
              <a:pathLst>
                <a:path w="21640800" h="2040600">
                  <a:moveTo>
                    <a:pt x="0" y="0"/>
                  </a:moveTo>
                  <a:lnTo>
                    <a:pt x="21640800" y="0"/>
                  </a:lnTo>
                  <a:lnTo>
                    <a:pt x="21640800" y="2040600"/>
                  </a:lnTo>
                  <a:lnTo>
                    <a:pt x="0" y="2040600"/>
                  </a:lnTo>
                  <a:close/>
                </a:path>
              </a:pathLst>
            </a:custGeom>
            <a:solidFill>
              <a:srgbClr val="000000">
                <a:alpha val="0"/>
              </a:srgbClr>
            </a:solidFill>
          </p:spPr>
          <p:txBody>
            <a:bodyPr/>
            <a:lstStyle/>
            <a:p>
              <a:endParaRPr lang="en-US"/>
            </a:p>
          </p:txBody>
        </p:sp>
        <p:sp>
          <p:nvSpPr>
            <p:cNvPr id="7" name="TextBox 7"/>
            <p:cNvSpPr txBox="1"/>
            <p:nvPr/>
          </p:nvSpPr>
          <p:spPr>
            <a:xfrm>
              <a:off x="0" y="76200"/>
              <a:ext cx="21640800" cy="1964400"/>
            </a:xfrm>
            <a:prstGeom prst="rect">
              <a:avLst/>
            </a:prstGeom>
          </p:spPr>
          <p:txBody>
            <a:bodyPr lIns="0" tIns="0" rIns="0" bIns="0" rtlCol="0" anchor="t"/>
            <a:lstStyle/>
            <a:p>
              <a:pPr algn="ctr">
                <a:lnSpc>
                  <a:spcPts val="7235"/>
                </a:lnSpc>
              </a:pPr>
              <a:r>
                <a:rPr lang="en-US" sz="6699" b="1" spc="662">
                  <a:solidFill>
                    <a:srgbClr val="446777"/>
                  </a:solidFill>
                  <a:latin typeface="Vollkorn Bold"/>
                  <a:ea typeface="Vollkorn Bold"/>
                  <a:cs typeface="Vollkorn Bold"/>
                  <a:sym typeface="Vollkorn Bold"/>
                </a:rPr>
                <a:t>CRISP-DM: Data Preparation</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1598"/>
            <a:ext cx="18286515" cy="10298598"/>
            <a:chOff x="0" y="0"/>
            <a:chExt cx="24382020" cy="13731464"/>
          </a:xfrm>
        </p:grpSpPr>
        <p:sp>
          <p:nvSpPr>
            <p:cNvPr id="3" name="Freeform 3"/>
            <p:cNvSpPr/>
            <p:nvPr/>
          </p:nvSpPr>
          <p:spPr>
            <a:xfrm>
              <a:off x="0" y="0"/>
              <a:ext cx="24381968" cy="13731494"/>
            </a:xfrm>
            <a:custGeom>
              <a:avLst/>
              <a:gdLst/>
              <a:ahLst/>
              <a:cxnLst/>
              <a:rect l="l" t="t" r="r" b="b"/>
              <a:pathLst>
                <a:path w="24381968" h="13731494">
                  <a:moveTo>
                    <a:pt x="0" y="0"/>
                  </a:moveTo>
                  <a:lnTo>
                    <a:pt x="24381968" y="0"/>
                  </a:lnTo>
                  <a:lnTo>
                    <a:pt x="24381968" y="13731494"/>
                  </a:lnTo>
                  <a:lnTo>
                    <a:pt x="0" y="13731494"/>
                  </a:lnTo>
                  <a:close/>
                </a:path>
              </a:pathLst>
            </a:custGeom>
            <a:solidFill>
              <a:srgbClr val="D98364"/>
            </a:solidFill>
          </p:spPr>
          <p:txBody>
            <a:bodyPr/>
            <a:lstStyle/>
            <a:p>
              <a:endParaRPr lang="en-US"/>
            </a:p>
          </p:txBody>
        </p:sp>
      </p:grpSp>
      <p:sp>
        <p:nvSpPr>
          <p:cNvPr id="4" name="Freeform 4"/>
          <p:cNvSpPr/>
          <p:nvPr/>
        </p:nvSpPr>
        <p:spPr>
          <a:xfrm rot="-10800000" flipV="1">
            <a:off x="-11" y="-11469"/>
            <a:ext cx="18286526" cy="7631469"/>
          </a:xfrm>
          <a:custGeom>
            <a:avLst/>
            <a:gdLst/>
            <a:ahLst/>
            <a:cxnLst/>
            <a:rect l="l" t="t" r="r" b="b"/>
            <a:pathLst>
              <a:path w="18286526" h="7631469">
                <a:moveTo>
                  <a:pt x="0" y="7631469"/>
                </a:moveTo>
                <a:lnTo>
                  <a:pt x="18286526" y="7631469"/>
                </a:lnTo>
                <a:lnTo>
                  <a:pt x="18286526" y="0"/>
                </a:lnTo>
                <a:lnTo>
                  <a:pt x="0" y="0"/>
                </a:lnTo>
                <a:lnTo>
                  <a:pt x="0" y="7631469"/>
                </a:lnTo>
                <a:close/>
              </a:path>
            </a:pathLst>
          </a:custGeom>
          <a:blipFill>
            <a:blip r:embed="rId3">
              <a:alphaModFix amt="5000"/>
            </a:blip>
            <a:stretch>
              <a:fillRect l="-3754" r="-2272" b="-51923"/>
            </a:stretch>
          </a:blipFill>
        </p:spPr>
        <p:txBody>
          <a:bodyPr/>
          <a:lstStyle/>
          <a:p>
            <a:endParaRPr lang="en-US"/>
          </a:p>
        </p:txBody>
      </p:sp>
      <p:grpSp>
        <p:nvGrpSpPr>
          <p:cNvPr id="5" name="Group 5"/>
          <p:cNvGrpSpPr/>
          <p:nvPr/>
        </p:nvGrpSpPr>
        <p:grpSpPr>
          <a:xfrm>
            <a:off x="399772" y="399774"/>
            <a:ext cx="17488455" cy="9487450"/>
            <a:chOff x="0" y="0"/>
            <a:chExt cx="23317940" cy="12649934"/>
          </a:xfrm>
        </p:grpSpPr>
        <p:sp>
          <p:nvSpPr>
            <p:cNvPr id="6" name="Freeform 6"/>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F8EAD4"/>
            </a:solidFill>
          </p:spPr>
          <p:txBody>
            <a:bodyPr/>
            <a:lstStyle/>
            <a:p>
              <a:endParaRPr lang="en-US"/>
            </a:p>
          </p:txBody>
        </p:sp>
      </p:grpSp>
      <p:sp>
        <p:nvSpPr>
          <p:cNvPr id="7" name="Freeform 7"/>
          <p:cNvSpPr/>
          <p:nvPr/>
        </p:nvSpPr>
        <p:spPr>
          <a:xfrm>
            <a:off x="1028700" y="3632570"/>
            <a:ext cx="7315200" cy="824623"/>
          </a:xfrm>
          <a:custGeom>
            <a:avLst/>
            <a:gdLst/>
            <a:ahLst/>
            <a:cxnLst/>
            <a:rect l="l" t="t" r="r" b="b"/>
            <a:pathLst>
              <a:path w="7315200" h="824623">
                <a:moveTo>
                  <a:pt x="0" y="0"/>
                </a:moveTo>
                <a:lnTo>
                  <a:pt x="7315200" y="0"/>
                </a:lnTo>
                <a:lnTo>
                  <a:pt x="7315200" y="824623"/>
                </a:lnTo>
                <a:lnTo>
                  <a:pt x="0" y="8246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p:cNvSpPr/>
          <p:nvPr/>
        </p:nvSpPr>
        <p:spPr>
          <a:xfrm>
            <a:off x="9655625" y="6354331"/>
            <a:ext cx="7315200" cy="824623"/>
          </a:xfrm>
          <a:custGeom>
            <a:avLst/>
            <a:gdLst/>
            <a:ahLst/>
            <a:cxnLst/>
            <a:rect l="l" t="t" r="r" b="b"/>
            <a:pathLst>
              <a:path w="7315200" h="824623">
                <a:moveTo>
                  <a:pt x="0" y="0"/>
                </a:moveTo>
                <a:lnTo>
                  <a:pt x="7315200" y="0"/>
                </a:lnTo>
                <a:lnTo>
                  <a:pt x="7315200" y="824622"/>
                </a:lnTo>
                <a:lnTo>
                  <a:pt x="0" y="8246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p:cNvSpPr/>
          <p:nvPr/>
        </p:nvSpPr>
        <p:spPr>
          <a:xfrm>
            <a:off x="1028700" y="6354331"/>
            <a:ext cx="7315200" cy="824623"/>
          </a:xfrm>
          <a:custGeom>
            <a:avLst/>
            <a:gdLst/>
            <a:ahLst/>
            <a:cxnLst/>
            <a:rect l="l" t="t" r="r" b="b"/>
            <a:pathLst>
              <a:path w="7315200" h="824623">
                <a:moveTo>
                  <a:pt x="0" y="0"/>
                </a:moveTo>
                <a:lnTo>
                  <a:pt x="7315200" y="0"/>
                </a:lnTo>
                <a:lnTo>
                  <a:pt x="7315200" y="824622"/>
                </a:lnTo>
                <a:lnTo>
                  <a:pt x="0" y="8246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Freeform 10"/>
          <p:cNvSpPr/>
          <p:nvPr/>
        </p:nvSpPr>
        <p:spPr>
          <a:xfrm>
            <a:off x="9655625" y="3632570"/>
            <a:ext cx="7315200" cy="824623"/>
          </a:xfrm>
          <a:custGeom>
            <a:avLst/>
            <a:gdLst/>
            <a:ahLst/>
            <a:cxnLst/>
            <a:rect l="l" t="t" r="r" b="b"/>
            <a:pathLst>
              <a:path w="7315200" h="824623">
                <a:moveTo>
                  <a:pt x="0" y="0"/>
                </a:moveTo>
                <a:lnTo>
                  <a:pt x="7315200" y="0"/>
                </a:lnTo>
                <a:lnTo>
                  <a:pt x="7315200" y="824623"/>
                </a:lnTo>
                <a:lnTo>
                  <a:pt x="0" y="82462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1" name="Freeform 11"/>
          <p:cNvSpPr/>
          <p:nvPr/>
        </p:nvSpPr>
        <p:spPr>
          <a:xfrm>
            <a:off x="8305355" y="3868224"/>
            <a:ext cx="1388816" cy="420117"/>
          </a:xfrm>
          <a:custGeom>
            <a:avLst/>
            <a:gdLst/>
            <a:ahLst/>
            <a:cxnLst/>
            <a:rect l="l" t="t" r="r" b="b"/>
            <a:pathLst>
              <a:path w="1388816" h="420117">
                <a:moveTo>
                  <a:pt x="0" y="0"/>
                </a:moveTo>
                <a:lnTo>
                  <a:pt x="1388816" y="0"/>
                </a:lnTo>
                <a:lnTo>
                  <a:pt x="1388816" y="420117"/>
                </a:lnTo>
                <a:lnTo>
                  <a:pt x="0" y="42011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2" name="TextBox 12"/>
          <p:cNvSpPr txBox="1"/>
          <p:nvPr/>
        </p:nvSpPr>
        <p:spPr>
          <a:xfrm>
            <a:off x="5220441" y="1076325"/>
            <a:ext cx="7845623" cy="556259"/>
          </a:xfrm>
          <a:prstGeom prst="rect">
            <a:avLst/>
          </a:prstGeom>
        </p:spPr>
        <p:txBody>
          <a:bodyPr lIns="0" tIns="0" rIns="0" bIns="0" rtlCol="0" anchor="t">
            <a:spAutoFit/>
          </a:bodyPr>
          <a:lstStyle/>
          <a:p>
            <a:pPr algn="ctr">
              <a:lnSpc>
                <a:spcPts val="4319"/>
              </a:lnSpc>
              <a:spcBef>
                <a:spcPct val="0"/>
              </a:spcBef>
            </a:pPr>
            <a:r>
              <a:rPr lang="en-US" sz="3999" b="1">
                <a:solidFill>
                  <a:srgbClr val="F8EAD4"/>
                </a:solidFill>
                <a:latin typeface="Vollkorn Bold"/>
                <a:ea typeface="Vollkorn Bold"/>
                <a:cs typeface="Vollkorn Bold"/>
                <a:sym typeface="Vollkorn Bold"/>
              </a:rPr>
              <a:t>CRISP-DM: DATA PREPARATION</a:t>
            </a:r>
          </a:p>
        </p:txBody>
      </p:sp>
      <p:sp>
        <p:nvSpPr>
          <p:cNvPr id="13" name="TextBox 13"/>
          <p:cNvSpPr txBox="1"/>
          <p:nvPr/>
        </p:nvSpPr>
        <p:spPr>
          <a:xfrm>
            <a:off x="2413933" y="3871146"/>
            <a:ext cx="4544734" cy="417195"/>
          </a:xfrm>
          <a:prstGeom prst="rect">
            <a:avLst/>
          </a:prstGeom>
        </p:spPr>
        <p:txBody>
          <a:bodyPr lIns="0" tIns="0" rIns="0" bIns="0" rtlCol="0" anchor="t">
            <a:spAutoFit/>
          </a:bodyPr>
          <a:lstStyle/>
          <a:p>
            <a:pPr algn="ctr">
              <a:lnSpc>
                <a:spcPts val="3239"/>
              </a:lnSpc>
              <a:spcBef>
                <a:spcPct val="0"/>
              </a:spcBef>
            </a:pPr>
            <a:r>
              <a:rPr lang="en-US" sz="2999">
                <a:solidFill>
                  <a:srgbClr val="000000"/>
                </a:solidFill>
                <a:latin typeface="Vollkorn"/>
                <a:ea typeface="Vollkorn"/>
                <a:cs typeface="Vollkorn"/>
                <a:sym typeface="Vollkorn"/>
              </a:rPr>
              <a:t>Process the data</a:t>
            </a:r>
          </a:p>
        </p:txBody>
      </p:sp>
      <p:sp>
        <p:nvSpPr>
          <p:cNvPr id="14" name="TextBox 14"/>
          <p:cNvSpPr txBox="1"/>
          <p:nvPr/>
        </p:nvSpPr>
        <p:spPr>
          <a:xfrm>
            <a:off x="11040859" y="3871146"/>
            <a:ext cx="4544734" cy="417195"/>
          </a:xfrm>
          <a:prstGeom prst="rect">
            <a:avLst/>
          </a:prstGeom>
        </p:spPr>
        <p:txBody>
          <a:bodyPr lIns="0" tIns="0" rIns="0" bIns="0" rtlCol="0" anchor="t">
            <a:spAutoFit/>
          </a:bodyPr>
          <a:lstStyle/>
          <a:p>
            <a:pPr algn="ctr">
              <a:lnSpc>
                <a:spcPts val="3239"/>
              </a:lnSpc>
              <a:spcBef>
                <a:spcPct val="0"/>
              </a:spcBef>
            </a:pPr>
            <a:r>
              <a:rPr lang="en-US" sz="2999">
                <a:solidFill>
                  <a:srgbClr val="000000"/>
                </a:solidFill>
                <a:latin typeface="Vollkorn"/>
                <a:ea typeface="Vollkorn"/>
                <a:cs typeface="Vollkorn"/>
                <a:sym typeface="Vollkorn"/>
              </a:rPr>
              <a:t>Normalise the data</a:t>
            </a:r>
          </a:p>
        </p:txBody>
      </p:sp>
      <p:sp>
        <p:nvSpPr>
          <p:cNvPr id="15" name="TextBox 15"/>
          <p:cNvSpPr txBox="1"/>
          <p:nvPr/>
        </p:nvSpPr>
        <p:spPr>
          <a:xfrm>
            <a:off x="1904574" y="6577095"/>
            <a:ext cx="5563452" cy="417195"/>
          </a:xfrm>
          <a:prstGeom prst="rect">
            <a:avLst/>
          </a:prstGeom>
        </p:spPr>
        <p:txBody>
          <a:bodyPr lIns="0" tIns="0" rIns="0" bIns="0" rtlCol="0" anchor="t">
            <a:spAutoFit/>
          </a:bodyPr>
          <a:lstStyle/>
          <a:p>
            <a:pPr algn="ctr">
              <a:lnSpc>
                <a:spcPts val="3239"/>
              </a:lnSpc>
              <a:spcBef>
                <a:spcPct val="0"/>
              </a:spcBef>
            </a:pPr>
            <a:r>
              <a:rPr lang="en-US" sz="2999">
                <a:solidFill>
                  <a:srgbClr val="000000"/>
                </a:solidFill>
                <a:latin typeface="Vollkorn"/>
                <a:ea typeface="Vollkorn"/>
                <a:cs typeface="Vollkorn"/>
                <a:sym typeface="Vollkorn"/>
              </a:rPr>
              <a:t>Prepare the data for modeling</a:t>
            </a:r>
          </a:p>
        </p:txBody>
      </p:sp>
      <p:sp>
        <p:nvSpPr>
          <p:cNvPr id="16" name="TextBox 16"/>
          <p:cNvSpPr txBox="1"/>
          <p:nvPr/>
        </p:nvSpPr>
        <p:spPr>
          <a:xfrm>
            <a:off x="11040859" y="6577095"/>
            <a:ext cx="4544734" cy="417195"/>
          </a:xfrm>
          <a:prstGeom prst="rect">
            <a:avLst/>
          </a:prstGeom>
        </p:spPr>
        <p:txBody>
          <a:bodyPr lIns="0" tIns="0" rIns="0" bIns="0" rtlCol="0" anchor="t">
            <a:spAutoFit/>
          </a:bodyPr>
          <a:lstStyle/>
          <a:p>
            <a:pPr algn="ctr">
              <a:lnSpc>
                <a:spcPts val="3239"/>
              </a:lnSpc>
              <a:spcBef>
                <a:spcPct val="0"/>
              </a:spcBef>
            </a:pPr>
            <a:r>
              <a:rPr lang="en-US" sz="2999">
                <a:solidFill>
                  <a:srgbClr val="000000"/>
                </a:solidFill>
                <a:latin typeface="Vollkorn"/>
                <a:ea typeface="Vollkorn"/>
                <a:cs typeface="Vollkorn"/>
                <a:sym typeface="Vollkorn"/>
              </a:rPr>
              <a:t>Encode the data</a:t>
            </a:r>
          </a:p>
        </p:txBody>
      </p:sp>
      <p:sp>
        <p:nvSpPr>
          <p:cNvPr id="17" name="Freeform 17"/>
          <p:cNvSpPr/>
          <p:nvPr/>
        </p:nvSpPr>
        <p:spPr>
          <a:xfrm rot="5400000">
            <a:off x="12625887" y="5070807"/>
            <a:ext cx="1970862" cy="596186"/>
          </a:xfrm>
          <a:custGeom>
            <a:avLst/>
            <a:gdLst/>
            <a:ahLst/>
            <a:cxnLst/>
            <a:rect l="l" t="t" r="r" b="b"/>
            <a:pathLst>
              <a:path w="1970862" h="596186">
                <a:moveTo>
                  <a:pt x="0" y="0"/>
                </a:moveTo>
                <a:lnTo>
                  <a:pt x="1970862" y="0"/>
                </a:lnTo>
                <a:lnTo>
                  <a:pt x="1970862" y="596186"/>
                </a:lnTo>
                <a:lnTo>
                  <a:pt x="0" y="59618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8" name="Freeform 18"/>
          <p:cNvSpPr/>
          <p:nvPr/>
        </p:nvSpPr>
        <p:spPr>
          <a:xfrm flipH="1">
            <a:off x="8305355" y="6556584"/>
            <a:ext cx="1388816" cy="420117"/>
          </a:xfrm>
          <a:custGeom>
            <a:avLst/>
            <a:gdLst/>
            <a:ahLst/>
            <a:cxnLst/>
            <a:rect l="l" t="t" r="r" b="b"/>
            <a:pathLst>
              <a:path w="1388816" h="420117">
                <a:moveTo>
                  <a:pt x="1388816" y="0"/>
                </a:moveTo>
                <a:lnTo>
                  <a:pt x="0" y="0"/>
                </a:lnTo>
                <a:lnTo>
                  <a:pt x="0" y="420116"/>
                </a:lnTo>
                <a:lnTo>
                  <a:pt x="1388816" y="420116"/>
                </a:lnTo>
                <a:lnTo>
                  <a:pt x="1388816"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7463B"/>
        </a:solidFill>
        <a:effectLst/>
      </p:bgPr>
    </p:bg>
    <p:spTree>
      <p:nvGrpSpPr>
        <p:cNvPr id="1" name=""/>
        <p:cNvGrpSpPr/>
        <p:nvPr/>
      </p:nvGrpSpPr>
      <p:grpSpPr>
        <a:xfrm>
          <a:off x="0" y="0"/>
          <a:ext cx="0" cy="0"/>
          <a:chOff x="0" y="0"/>
          <a:chExt cx="0" cy="0"/>
        </a:xfrm>
      </p:grpSpPr>
      <p:sp>
        <p:nvSpPr>
          <p:cNvPr id="2" name="Freeform 2"/>
          <p:cNvSpPr/>
          <p:nvPr/>
        </p:nvSpPr>
        <p:spPr>
          <a:xfrm>
            <a:off x="61047" y="0"/>
            <a:ext cx="18226953" cy="10287000"/>
          </a:xfrm>
          <a:custGeom>
            <a:avLst/>
            <a:gdLst/>
            <a:ahLst/>
            <a:cxnLst/>
            <a:rect l="l" t="t" r="r" b="b"/>
            <a:pathLst>
              <a:path w="18226953" h="10287000">
                <a:moveTo>
                  <a:pt x="0" y="0"/>
                </a:moveTo>
                <a:lnTo>
                  <a:pt x="18226953" y="0"/>
                </a:lnTo>
                <a:lnTo>
                  <a:pt x="18226953" y="10287000"/>
                </a:lnTo>
                <a:lnTo>
                  <a:pt x="0" y="10287000"/>
                </a:lnTo>
                <a:lnTo>
                  <a:pt x="0" y="0"/>
                </a:lnTo>
                <a:close/>
              </a:path>
            </a:pathLst>
          </a:custGeom>
          <a:blipFill>
            <a:blip r:embed="rId3">
              <a:alphaModFix amt="5000"/>
            </a:blip>
            <a:stretch>
              <a:fillRect l="-1247" t="-54414" r="-2" b="-24982"/>
            </a:stretch>
          </a:blipFill>
        </p:spPr>
        <p:txBody>
          <a:bodyPr/>
          <a:lstStyle/>
          <a:p>
            <a:endParaRPr lang="en-US"/>
          </a:p>
        </p:txBody>
      </p:sp>
      <p:grpSp>
        <p:nvGrpSpPr>
          <p:cNvPr id="3" name="Group 3"/>
          <p:cNvGrpSpPr/>
          <p:nvPr/>
        </p:nvGrpSpPr>
        <p:grpSpPr>
          <a:xfrm>
            <a:off x="421221" y="2202972"/>
            <a:ext cx="8692255" cy="6879799"/>
            <a:chOff x="0" y="0"/>
            <a:chExt cx="11589674" cy="9173066"/>
          </a:xfrm>
        </p:grpSpPr>
        <p:sp>
          <p:nvSpPr>
            <p:cNvPr id="4" name="Freeform 4"/>
            <p:cNvSpPr/>
            <p:nvPr/>
          </p:nvSpPr>
          <p:spPr>
            <a:xfrm>
              <a:off x="0" y="0"/>
              <a:ext cx="11589714" cy="9173083"/>
            </a:xfrm>
            <a:custGeom>
              <a:avLst/>
              <a:gdLst/>
              <a:ahLst/>
              <a:cxnLst/>
              <a:rect l="l" t="t" r="r" b="b"/>
              <a:pathLst>
                <a:path w="11589714" h="9173083">
                  <a:moveTo>
                    <a:pt x="0" y="0"/>
                  </a:moveTo>
                  <a:lnTo>
                    <a:pt x="11589714" y="0"/>
                  </a:lnTo>
                  <a:lnTo>
                    <a:pt x="11589714" y="9173083"/>
                  </a:lnTo>
                  <a:lnTo>
                    <a:pt x="0" y="9173083"/>
                  </a:lnTo>
                  <a:close/>
                </a:path>
              </a:pathLst>
            </a:custGeom>
            <a:solidFill>
              <a:srgbClr val="FFFFFF"/>
            </a:solidFill>
          </p:spPr>
          <p:txBody>
            <a:bodyPr/>
            <a:lstStyle/>
            <a:p>
              <a:endParaRPr lang="en-US"/>
            </a:p>
          </p:txBody>
        </p:sp>
      </p:grpSp>
      <p:grpSp>
        <p:nvGrpSpPr>
          <p:cNvPr id="5" name="Group 5"/>
          <p:cNvGrpSpPr/>
          <p:nvPr/>
        </p:nvGrpSpPr>
        <p:grpSpPr>
          <a:xfrm>
            <a:off x="3535104" y="1703600"/>
            <a:ext cx="2464489" cy="735291"/>
            <a:chOff x="0" y="0"/>
            <a:chExt cx="3285986" cy="980388"/>
          </a:xfrm>
        </p:grpSpPr>
        <p:sp>
          <p:nvSpPr>
            <p:cNvPr id="6" name="Freeform 6"/>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grpSp>
        <p:nvGrpSpPr>
          <p:cNvPr id="7" name="Group 7"/>
          <p:cNvGrpSpPr/>
          <p:nvPr/>
        </p:nvGrpSpPr>
        <p:grpSpPr>
          <a:xfrm>
            <a:off x="9490717" y="2202972"/>
            <a:ext cx="8425999" cy="6879799"/>
            <a:chOff x="0" y="0"/>
            <a:chExt cx="11234665" cy="9173066"/>
          </a:xfrm>
        </p:grpSpPr>
        <p:sp>
          <p:nvSpPr>
            <p:cNvPr id="8" name="Freeform 8"/>
            <p:cNvSpPr/>
            <p:nvPr/>
          </p:nvSpPr>
          <p:spPr>
            <a:xfrm>
              <a:off x="0" y="0"/>
              <a:ext cx="11234705" cy="9173083"/>
            </a:xfrm>
            <a:custGeom>
              <a:avLst/>
              <a:gdLst/>
              <a:ahLst/>
              <a:cxnLst/>
              <a:rect l="l" t="t" r="r" b="b"/>
              <a:pathLst>
                <a:path w="11234705" h="9173083">
                  <a:moveTo>
                    <a:pt x="0" y="0"/>
                  </a:moveTo>
                  <a:lnTo>
                    <a:pt x="11234705" y="0"/>
                  </a:lnTo>
                  <a:lnTo>
                    <a:pt x="11234705" y="9173083"/>
                  </a:lnTo>
                  <a:lnTo>
                    <a:pt x="0" y="9173083"/>
                  </a:lnTo>
                  <a:close/>
                </a:path>
              </a:pathLst>
            </a:custGeom>
            <a:solidFill>
              <a:srgbClr val="FFFFFF"/>
            </a:solidFill>
          </p:spPr>
          <p:txBody>
            <a:bodyPr/>
            <a:lstStyle/>
            <a:p>
              <a:endParaRPr lang="en-US"/>
            </a:p>
          </p:txBody>
        </p:sp>
      </p:grpSp>
      <p:grpSp>
        <p:nvGrpSpPr>
          <p:cNvPr id="9" name="Group 9"/>
          <p:cNvGrpSpPr/>
          <p:nvPr/>
        </p:nvGrpSpPr>
        <p:grpSpPr>
          <a:xfrm>
            <a:off x="12471472" y="1703600"/>
            <a:ext cx="2464489" cy="735291"/>
            <a:chOff x="0" y="0"/>
            <a:chExt cx="3285986" cy="980388"/>
          </a:xfrm>
        </p:grpSpPr>
        <p:sp>
          <p:nvSpPr>
            <p:cNvPr id="10" name="Freeform 10"/>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sp>
        <p:nvSpPr>
          <p:cNvPr id="11" name="Freeform 11"/>
          <p:cNvSpPr/>
          <p:nvPr/>
        </p:nvSpPr>
        <p:spPr>
          <a:xfrm>
            <a:off x="472837" y="2708036"/>
            <a:ext cx="8491389" cy="5869673"/>
          </a:xfrm>
          <a:custGeom>
            <a:avLst/>
            <a:gdLst/>
            <a:ahLst/>
            <a:cxnLst/>
            <a:rect l="l" t="t" r="r" b="b"/>
            <a:pathLst>
              <a:path w="8491389" h="5869673">
                <a:moveTo>
                  <a:pt x="0" y="0"/>
                </a:moveTo>
                <a:lnTo>
                  <a:pt x="8491389" y="0"/>
                </a:lnTo>
                <a:lnTo>
                  <a:pt x="8491389" y="5869672"/>
                </a:lnTo>
                <a:lnTo>
                  <a:pt x="0" y="5869672"/>
                </a:lnTo>
                <a:lnTo>
                  <a:pt x="0" y="0"/>
                </a:lnTo>
                <a:close/>
              </a:path>
            </a:pathLst>
          </a:custGeom>
          <a:blipFill>
            <a:blip r:embed="rId4"/>
            <a:stretch>
              <a:fillRect/>
            </a:stretch>
          </a:blipFill>
        </p:spPr>
        <p:txBody>
          <a:bodyPr/>
          <a:lstStyle/>
          <a:p>
            <a:endParaRPr lang="en-US"/>
          </a:p>
        </p:txBody>
      </p:sp>
      <p:sp>
        <p:nvSpPr>
          <p:cNvPr id="12" name="Freeform 12"/>
          <p:cNvSpPr/>
          <p:nvPr/>
        </p:nvSpPr>
        <p:spPr>
          <a:xfrm>
            <a:off x="9581544" y="2662390"/>
            <a:ext cx="8244346" cy="5915318"/>
          </a:xfrm>
          <a:custGeom>
            <a:avLst/>
            <a:gdLst/>
            <a:ahLst/>
            <a:cxnLst/>
            <a:rect l="l" t="t" r="r" b="b"/>
            <a:pathLst>
              <a:path w="8244346" h="5915318">
                <a:moveTo>
                  <a:pt x="0" y="0"/>
                </a:moveTo>
                <a:lnTo>
                  <a:pt x="8244345" y="0"/>
                </a:lnTo>
                <a:lnTo>
                  <a:pt x="8244345" y="5915318"/>
                </a:lnTo>
                <a:lnTo>
                  <a:pt x="0" y="5915318"/>
                </a:lnTo>
                <a:lnTo>
                  <a:pt x="0" y="0"/>
                </a:lnTo>
                <a:close/>
              </a:path>
            </a:pathLst>
          </a:custGeom>
          <a:blipFill>
            <a:blip r:embed="rId5"/>
            <a:stretch>
              <a:fillRect/>
            </a:stretch>
          </a:blipFill>
        </p:spPr>
        <p:txBody>
          <a:bodyPr/>
          <a:lstStyle/>
          <a:p>
            <a:endParaRPr lang="en-US"/>
          </a:p>
        </p:txBody>
      </p:sp>
      <p:sp>
        <p:nvSpPr>
          <p:cNvPr id="13" name="TextBox 13"/>
          <p:cNvSpPr txBox="1"/>
          <p:nvPr/>
        </p:nvSpPr>
        <p:spPr>
          <a:xfrm>
            <a:off x="6813417" y="636817"/>
            <a:ext cx="4661166" cy="567399"/>
          </a:xfrm>
          <a:prstGeom prst="rect">
            <a:avLst/>
          </a:prstGeom>
        </p:spPr>
        <p:txBody>
          <a:bodyPr wrap="square" lIns="0" tIns="0" rIns="0" bIns="0" rtlCol="0" anchor="t">
            <a:spAutoFit/>
          </a:bodyPr>
          <a:lstStyle/>
          <a:p>
            <a:pPr algn="ctr">
              <a:lnSpc>
                <a:spcPts val="4319"/>
              </a:lnSpc>
              <a:spcBef>
                <a:spcPct val="0"/>
              </a:spcBef>
            </a:pPr>
            <a:r>
              <a:rPr lang="en-US" sz="3999" b="1" dirty="0">
                <a:solidFill>
                  <a:srgbClr val="FCEBAB"/>
                </a:solidFill>
                <a:latin typeface="Vollkorn Bold"/>
                <a:ea typeface="Vollkorn Bold"/>
                <a:cs typeface="Vollkorn Bold"/>
                <a:sym typeface="Vollkorn Bold"/>
              </a:rPr>
              <a:t>Data Cleaning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4A8B9"/>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7999"/>
            </a:blip>
            <a:stretch>
              <a:fillRect t="-76328" b="-1448"/>
            </a:stretch>
          </a:blipFill>
        </p:spPr>
        <p:txBody>
          <a:bodyPr/>
          <a:lstStyle/>
          <a:p>
            <a:endParaRPr lang="en-US"/>
          </a:p>
        </p:txBody>
      </p:sp>
      <p:grpSp>
        <p:nvGrpSpPr>
          <p:cNvPr id="3" name="Group 3"/>
          <p:cNvGrpSpPr/>
          <p:nvPr/>
        </p:nvGrpSpPr>
        <p:grpSpPr>
          <a:xfrm>
            <a:off x="321347" y="2202972"/>
            <a:ext cx="8692255" cy="6879799"/>
            <a:chOff x="0" y="0"/>
            <a:chExt cx="11589674" cy="9173066"/>
          </a:xfrm>
        </p:grpSpPr>
        <p:sp>
          <p:nvSpPr>
            <p:cNvPr id="4" name="Freeform 4"/>
            <p:cNvSpPr/>
            <p:nvPr/>
          </p:nvSpPr>
          <p:spPr>
            <a:xfrm>
              <a:off x="0" y="0"/>
              <a:ext cx="11589714" cy="9173083"/>
            </a:xfrm>
            <a:custGeom>
              <a:avLst/>
              <a:gdLst/>
              <a:ahLst/>
              <a:cxnLst/>
              <a:rect l="l" t="t" r="r" b="b"/>
              <a:pathLst>
                <a:path w="11589714" h="9173083">
                  <a:moveTo>
                    <a:pt x="0" y="0"/>
                  </a:moveTo>
                  <a:lnTo>
                    <a:pt x="11589714" y="0"/>
                  </a:lnTo>
                  <a:lnTo>
                    <a:pt x="11589714" y="9173083"/>
                  </a:lnTo>
                  <a:lnTo>
                    <a:pt x="0" y="9173083"/>
                  </a:lnTo>
                  <a:close/>
                </a:path>
              </a:pathLst>
            </a:custGeom>
            <a:solidFill>
              <a:srgbClr val="FFFFFF"/>
            </a:solidFill>
          </p:spPr>
          <p:txBody>
            <a:bodyPr/>
            <a:lstStyle/>
            <a:p>
              <a:endParaRPr lang="en-US"/>
            </a:p>
          </p:txBody>
        </p:sp>
      </p:grpSp>
      <p:grpSp>
        <p:nvGrpSpPr>
          <p:cNvPr id="5" name="Group 5"/>
          <p:cNvGrpSpPr/>
          <p:nvPr/>
        </p:nvGrpSpPr>
        <p:grpSpPr>
          <a:xfrm>
            <a:off x="9322618" y="2202972"/>
            <a:ext cx="8692255" cy="6879799"/>
            <a:chOff x="0" y="0"/>
            <a:chExt cx="11589674" cy="9173066"/>
          </a:xfrm>
        </p:grpSpPr>
        <p:sp>
          <p:nvSpPr>
            <p:cNvPr id="6" name="Freeform 6"/>
            <p:cNvSpPr/>
            <p:nvPr/>
          </p:nvSpPr>
          <p:spPr>
            <a:xfrm>
              <a:off x="0" y="0"/>
              <a:ext cx="11589714" cy="9173083"/>
            </a:xfrm>
            <a:custGeom>
              <a:avLst/>
              <a:gdLst/>
              <a:ahLst/>
              <a:cxnLst/>
              <a:rect l="l" t="t" r="r" b="b"/>
              <a:pathLst>
                <a:path w="11589714" h="9173083">
                  <a:moveTo>
                    <a:pt x="0" y="0"/>
                  </a:moveTo>
                  <a:lnTo>
                    <a:pt x="11589714" y="0"/>
                  </a:lnTo>
                  <a:lnTo>
                    <a:pt x="11589714" y="9173083"/>
                  </a:lnTo>
                  <a:lnTo>
                    <a:pt x="0" y="9173083"/>
                  </a:lnTo>
                  <a:close/>
                </a:path>
              </a:pathLst>
            </a:custGeom>
            <a:solidFill>
              <a:srgbClr val="FFFFFF"/>
            </a:solidFill>
          </p:spPr>
          <p:txBody>
            <a:bodyPr/>
            <a:lstStyle/>
            <a:p>
              <a:endParaRPr lang="en-US"/>
            </a:p>
          </p:txBody>
        </p:sp>
      </p:grpSp>
      <p:grpSp>
        <p:nvGrpSpPr>
          <p:cNvPr id="7" name="Group 7"/>
          <p:cNvGrpSpPr/>
          <p:nvPr/>
        </p:nvGrpSpPr>
        <p:grpSpPr>
          <a:xfrm>
            <a:off x="3535104" y="1703600"/>
            <a:ext cx="2464489" cy="735291"/>
            <a:chOff x="0" y="0"/>
            <a:chExt cx="3285986" cy="980388"/>
          </a:xfrm>
        </p:grpSpPr>
        <p:sp>
          <p:nvSpPr>
            <p:cNvPr id="8" name="Freeform 8"/>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grpSp>
        <p:nvGrpSpPr>
          <p:cNvPr id="9" name="Group 9"/>
          <p:cNvGrpSpPr/>
          <p:nvPr/>
        </p:nvGrpSpPr>
        <p:grpSpPr>
          <a:xfrm>
            <a:off x="12436501" y="1703600"/>
            <a:ext cx="2464489" cy="735291"/>
            <a:chOff x="0" y="0"/>
            <a:chExt cx="3285986" cy="980388"/>
          </a:xfrm>
        </p:grpSpPr>
        <p:sp>
          <p:nvSpPr>
            <p:cNvPr id="10" name="Freeform 10"/>
            <p:cNvSpPr/>
            <p:nvPr/>
          </p:nvSpPr>
          <p:spPr>
            <a:xfrm>
              <a:off x="0" y="0"/>
              <a:ext cx="3285998" cy="980440"/>
            </a:xfrm>
            <a:custGeom>
              <a:avLst/>
              <a:gdLst/>
              <a:ahLst/>
              <a:cxnLst/>
              <a:rect l="l" t="t" r="r" b="b"/>
              <a:pathLst>
                <a:path w="3285998" h="980440">
                  <a:moveTo>
                    <a:pt x="0" y="0"/>
                  </a:moveTo>
                  <a:lnTo>
                    <a:pt x="3285998" y="0"/>
                  </a:lnTo>
                  <a:lnTo>
                    <a:pt x="3285998" y="980440"/>
                  </a:lnTo>
                  <a:lnTo>
                    <a:pt x="0" y="980440"/>
                  </a:lnTo>
                  <a:close/>
                </a:path>
              </a:pathLst>
            </a:custGeom>
            <a:solidFill>
              <a:srgbClr val="F8EAD4">
                <a:alpha val="63922"/>
              </a:srgbClr>
            </a:solidFill>
          </p:spPr>
          <p:txBody>
            <a:bodyPr/>
            <a:lstStyle/>
            <a:p>
              <a:endParaRPr lang="en-US"/>
            </a:p>
          </p:txBody>
        </p:sp>
      </p:grpSp>
      <p:sp>
        <p:nvSpPr>
          <p:cNvPr id="11" name="Freeform 11"/>
          <p:cNvSpPr/>
          <p:nvPr/>
        </p:nvSpPr>
        <p:spPr>
          <a:xfrm>
            <a:off x="487554" y="2696028"/>
            <a:ext cx="8359841" cy="5893688"/>
          </a:xfrm>
          <a:custGeom>
            <a:avLst/>
            <a:gdLst/>
            <a:ahLst/>
            <a:cxnLst/>
            <a:rect l="l" t="t" r="r" b="b"/>
            <a:pathLst>
              <a:path w="8359841" h="5893688">
                <a:moveTo>
                  <a:pt x="0" y="0"/>
                </a:moveTo>
                <a:lnTo>
                  <a:pt x="8359841" y="0"/>
                </a:lnTo>
                <a:lnTo>
                  <a:pt x="8359841" y="5893688"/>
                </a:lnTo>
                <a:lnTo>
                  <a:pt x="0" y="5893688"/>
                </a:lnTo>
                <a:lnTo>
                  <a:pt x="0" y="0"/>
                </a:lnTo>
                <a:close/>
              </a:path>
            </a:pathLst>
          </a:custGeom>
          <a:blipFill>
            <a:blip r:embed="rId4"/>
            <a:stretch>
              <a:fillRect/>
            </a:stretch>
          </a:blipFill>
        </p:spPr>
        <p:txBody>
          <a:bodyPr/>
          <a:lstStyle/>
          <a:p>
            <a:endParaRPr lang="en-US"/>
          </a:p>
        </p:txBody>
      </p:sp>
      <p:sp>
        <p:nvSpPr>
          <p:cNvPr id="12" name="Freeform 12"/>
          <p:cNvSpPr/>
          <p:nvPr/>
        </p:nvSpPr>
        <p:spPr>
          <a:xfrm>
            <a:off x="9374274" y="2721269"/>
            <a:ext cx="8640600" cy="5843206"/>
          </a:xfrm>
          <a:custGeom>
            <a:avLst/>
            <a:gdLst/>
            <a:ahLst/>
            <a:cxnLst/>
            <a:rect l="l" t="t" r="r" b="b"/>
            <a:pathLst>
              <a:path w="8640600" h="5843206">
                <a:moveTo>
                  <a:pt x="0" y="0"/>
                </a:moveTo>
                <a:lnTo>
                  <a:pt x="8640599" y="0"/>
                </a:lnTo>
                <a:lnTo>
                  <a:pt x="8640599" y="5843206"/>
                </a:lnTo>
                <a:lnTo>
                  <a:pt x="0" y="5843206"/>
                </a:lnTo>
                <a:lnTo>
                  <a:pt x="0" y="0"/>
                </a:lnTo>
                <a:close/>
              </a:path>
            </a:pathLst>
          </a:custGeom>
          <a:blipFill>
            <a:blip r:embed="rId5"/>
            <a:stretch>
              <a:fillRect/>
            </a:stretch>
          </a:blipFill>
        </p:spPr>
        <p:txBody>
          <a:bodyPr/>
          <a:lstStyle/>
          <a:p>
            <a:endParaRPr lang="en-US"/>
          </a:p>
        </p:txBody>
      </p:sp>
      <p:sp>
        <p:nvSpPr>
          <p:cNvPr id="13" name="TextBox 13"/>
          <p:cNvSpPr txBox="1"/>
          <p:nvPr/>
        </p:nvSpPr>
        <p:spPr>
          <a:xfrm>
            <a:off x="6845548" y="666679"/>
            <a:ext cx="4336168" cy="567399"/>
          </a:xfrm>
          <a:prstGeom prst="rect">
            <a:avLst/>
          </a:prstGeom>
        </p:spPr>
        <p:txBody>
          <a:bodyPr wrap="square" lIns="0" tIns="0" rIns="0" bIns="0" rtlCol="0" anchor="t">
            <a:spAutoFit/>
          </a:bodyPr>
          <a:lstStyle/>
          <a:p>
            <a:pPr algn="ctr">
              <a:lnSpc>
                <a:spcPts val="4319"/>
              </a:lnSpc>
              <a:spcBef>
                <a:spcPct val="0"/>
              </a:spcBef>
            </a:pPr>
            <a:r>
              <a:rPr lang="en-US" sz="3999" b="1" dirty="0">
                <a:solidFill>
                  <a:srgbClr val="F2EDD8"/>
                </a:solidFill>
                <a:latin typeface="Vollkorn Bold"/>
                <a:ea typeface="Vollkorn Bold"/>
                <a:cs typeface="Vollkorn Bold"/>
                <a:sym typeface="Vollkorn Bold"/>
              </a:rPr>
              <a:t>Data Cleaning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5000"/>
            </a:blip>
            <a:stretch>
              <a:fillRect t="-76328" b="-1448"/>
            </a:stretch>
          </a:blipFill>
        </p:spPr>
        <p:txBody>
          <a:bodyPr/>
          <a:lstStyle/>
          <a:p>
            <a:endParaRPr lang="en-US"/>
          </a:p>
        </p:txBody>
      </p:sp>
      <p:grpSp>
        <p:nvGrpSpPr>
          <p:cNvPr id="3" name="Group 3"/>
          <p:cNvGrpSpPr/>
          <p:nvPr/>
        </p:nvGrpSpPr>
        <p:grpSpPr>
          <a:xfrm>
            <a:off x="399772" y="399774"/>
            <a:ext cx="17488455" cy="9487450"/>
            <a:chOff x="0" y="0"/>
            <a:chExt cx="23317940" cy="12649934"/>
          </a:xfrm>
        </p:grpSpPr>
        <p:sp>
          <p:nvSpPr>
            <p:cNvPr id="4" name="Freeform 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446777"/>
            </a:solidFill>
          </p:spPr>
          <p:txBody>
            <a:bodyPr/>
            <a:lstStyle/>
            <a:p>
              <a:endParaRPr lang="en-US"/>
            </a:p>
          </p:txBody>
        </p:sp>
      </p:grpSp>
      <p:grpSp>
        <p:nvGrpSpPr>
          <p:cNvPr id="5" name="Group 5"/>
          <p:cNvGrpSpPr/>
          <p:nvPr/>
        </p:nvGrpSpPr>
        <p:grpSpPr>
          <a:xfrm>
            <a:off x="1028700" y="4435056"/>
            <a:ext cx="16230600" cy="1530450"/>
            <a:chOff x="0" y="0"/>
            <a:chExt cx="21640800" cy="2040600"/>
          </a:xfrm>
        </p:grpSpPr>
        <p:sp>
          <p:nvSpPr>
            <p:cNvPr id="6" name="Freeform 6"/>
            <p:cNvSpPr/>
            <p:nvPr/>
          </p:nvSpPr>
          <p:spPr>
            <a:xfrm>
              <a:off x="0" y="0"/>
              <a:ext cx="21640800" cy="2040600"/>
            </a:xfrm>
            <a:custGeom>
              <a:avLst/>
              <a:gdLst/>
              <a:ahLst/>
              <a:cxnLst/>
              <a:rect l="l" t="t" r="r" b="b"/>
              <a:pathLst>
                <a:path w="21640800" h="2040600">
                  <a:moveTo>
                    <a:pt x="0" y="0"/>
                  </a:moveTo>
                  <a:lnTo>
                    <a:pt x="21640800" y="0"/>
                  </a:lnTo>
                  <a:lnTo>
                    <a:pt x="21640800" y="2040600"/>
                  </a:lnTo>
                  <a:lnTo>
                    <a:pt x="0" y="2040600"/>
                  </a:lnTo>
                  <a:close/>
                </a:path>
              </a:pathLst>
            </a:custGeom>
            <a:solidFill>
              <a:srgbClr val="000000">
                <a:alpha val="0"/>
              </a:srgbClr>
            </a:solidFill>
          </p:spPr>
          <p:txBody>
            <a:bodyPr/>
            <a:lstStyle/>
            <a:p>
              <a:endParaRPr lang="en-US"/>
            </a:p>
          </p:txBody>
        </p:sp>
        <p:sp>
          <p:nvSpPr>
            <p:cNvPr id="7" name="TextBox 7"/>
            <p:cNvSpPr txBox="1"/>
            <p:nvPr/>
          </p:nvSpPr>
          <p:spPr>
            <a:xfrm>
              <a:off x="0" y="76200"/>
              <a:ext cx="21640800" cy="1964400"/>
            </a:xfrm>
            <a:prstGeom prst="rect">
              <a:avLst/>
            </a:prstGeom>
          </p:spPr>
          <p:txBody>
            <a:bodyPr lIns="0" tIns="0" rIns="0" bIns="0" rtlCol="0" anchor="t"/>
            <a:lstStyle/>
            <a:p>
              <a:pPr algn="ctr">
                <a:lnSpc>
                  <a:spcPts val="7235"/>
                </a:lnSpc>
              </a:pPr>
              <a:r>
                <a:rPr lang="en-US" sz="6699" b="1" spc="662">
                  <a:solidFill>
                    <a:srgbClr val="446777"/>
                  </a:solidFill>
                  <a:latin typeface="Vollkorn Bold"/>
                  <a:ea typeface="Vollkorn Bold"/>
                  <a:cs typeface="Vollkorn Bold"/>
                  <a:sym typeface="Vollkorn Bold"/>
                </a:rPr>
                <a:t>CRISP-DM: Modeling</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6777"/>
        </a:solidFill>
        <a:effectLst/>
      </p:bgPr>
    </p:bg>
    <p:spTree>
      <p:nvGrpSpPr>
        <p:cNvPr id="1" name=""/>
        <p:cNvGrpSpPr/>
        <p:nvPr/>
      </p:nvGrpSpPr>
      <p:grpSpPr>
        <a:xfrm>
          <a:off x="0" y="0"/>
          <a:ext cx="0" cy="0"/>
          <a:chOff x="0" y="0"/>
          <a:chExt cx="0" cy="0"/>
        </a:xfrm>
      </p:grpSpPr>
      <p:sp>
        <p:nvSpPr>
          <p:cNvPr id="2" name="Freeform 2"/>
          <p:cNvSpPr/>
          <p:nvPr/>
        </p:nvSpPr>
        <p:spPr>
          <a:xfrm rot="-10800000" flipV="1">
            <a:off x="0" y="0"/>
            <a:ext cx="18288012" cy="10287000"/>
          </a:xfrm>
          <a:custGeom>
            <a:avLst/>
            <a:gdLst/>
            <a:ahLst/>
            <a:cxnLst/>
            <a:rect l="l" t="t" r="r" b="b"/>
            <a:pathLst>
              <a:path w="18288012" h="10287000">
                <a:moveTo>
                  <a:pt x="0" y="10287000"/>
                </a:moveTo>
                <a:lnTo>
                  <a:pt x="18288012" y="10287000"/>
                </a:lnTo>
                <a:lnTo>
                  <a:pt x="18288012" y="0"/>
                </a:lnTo>
                <a:lnTo>
                  <a:pt x="0" y="0"/>
                </a:lnTo>
                <a:lnTo>
                  <a:pt x="0" y="10287000"/>
                </a:lnTo>
                <a:close/>
              </a:path>
            </a:pathLst>
          </a:custGeom>
          <a:blipFill>
            <a:blip r:embed="rId3">
              <a:alphaModFix amt="5000"/>
            </a:blip>
            <a:stretch>
              <a:fillRect l="-3745" r="-2271" b="-12704"/>
            </a:stretch>
          </a:blipFill>
        </p:spPr>
        <p:txBody>
          <a:bodyPr/>
          <a:lstStyle/>
          <a:p>
            <a:endParaRPr lang="en-US"/>
          </a:p>
        </p:txBody>
      </p:sp>
      <p:grpSp>
        <p:nvGrpSpPr>
          <p:cNvPr id="3" name="Group 3"/>
          <p:cNvGrpSpPr/>
          <p:nvPr/>
        </p:nvGrpSpPr>
        <p:grpSpPr>
          <a:xfrm>
            <a:off x="399772" y="399774"/>
            <a:ext cx="8164682" cy="9487450"/>
            <a:chOff x="0" y="0"/>
            <a:chExt cx="10886242" cy="12649934"/>
          </a:xfrm>
        </p:grpSpPr>
        <p:sp>
          <p:nvSpPr>
            <p:cNvPr id="4" name="Freeform 4"/>
            <p:cNvSpPr/>
            <p:nvPr/>
          </p:nvSpPr>
          <p:spPr>
            <a:xfrm>
              <a:off x="0" y="0"/>
              <a:ext cx="10886186" cy="12649962"/>
            </a:xfrm>
            <a:custGeom>
              <a:avLst/>
              <a:gdLst/>
              <a:ahLst/>
              <a:cxnLst/>
              <a:rect l="l" t="t" r="r" b="b"/>
              <a:pathLst>
                <a:path w="10886186" h="12649962">
                  <a:moveTo>
                    <a:pt x="38100" y="0"/>
                  </a:moveTo>
                  <a:lnTo>
                    <a:pt x="10848086" y="0"/>
                  </a:lnTo>
                  <a:cubicBezTo>
                    <a:pt x="10869168" y="0"/>
                    <a:pt x="10886186" y="17018"/>
                    <a:pt x="10886186" y="38100"/>
                  </a:cubicBezTo>
                  <a:lnTo>
                    <a:pt x="10886186" y="12611862"/>
                  </a:lnTo>
                  <a:cubicBezTo>
                    <a:pt x="10886186" y="12632944"/>
                    <a:pt x="10869168" y="12649962"/>
                    <a:pt x="10848086"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10848086" y="12573762"/>
                  </a:lnTo>
                  <a:lnTo>
                    <a:pt x="10848086" y="12611862"/>
                  </a:lnTo>
                  <a:lnTo>
                    <a:pt x="10809986" y="12611862"/>
                  </a:lnTo>
                  <a:lnTo>
                    <a:pt x="10809986" y="38100"/>
                  </a:lnTo>
                  <a:lnTo>
                    <a:pt x="10848086" y="38100"/>
                  </a:lnTo>
                  <a:lnTo>
                    <a:pt x="10848086" y="76200"/>
                  </a:lnTo>
                  <a:lnTo>
                    <a:pt x="38100" y="76200"/>
                  </a:lnTo>
                  <a:close/>
                </a:path>
              </a:pathLst>
            </a:custGeom>
            <a:solidFill>
              <a:srgbClr val="F8EAD4"/>
            </a:solidFill>
          </p:spPr>
          <p:txBody>
            <a:bodyPr/>
            <a:lstStyle/>
            <a:p>
              <a:endParaRPr lang="en-US"/>
            </a:p>
          </p:txBody>
        </p:sp>
      </p:grpSp>
      <p:grpSp>
        <p:nvGrpSpPr>
          <p:cNvPr id="5" name="Group 5"/>
          <p:cNvGrpSpPr/>
          <p:nvPr/>
        </p:nvGrpSpPr>
        <p:grpSpPr>
          <a:xfrm>
            <a:off x="971462" y="1187857"/>
            <a:ext cx="6996961" cy="7688760"/>
            <a:chOff x="0" y="0"/>
            <a:chExt cx="9329282" cy="10251679"/>
          </a:xfrm>
        </p:grpSpPr>
        <p:sp>
          <p:nvSpPr>
            <p:cNvPr id="6" name="Freeform 6"/>
            <p:cNvSpPr/>
            <p:nvPr/>
          </p:nvSpPr>
          <p:spPr>
            <a:xfrm>
              <a:off x="0" y="0"/>
              <a:ext cx="9329293" cy="10251681"/>
            </a:xfrm>
            <a:custGeom>
              <a:avLst/>
              <a:gdLst/>
              <a:ahLst/>
              <a:cxnLst/>
              <a:rect l="l" t="t" r="r" b="b"/>
              <a:pathLst>
                <a:path w="9329293" h="10251681">
                  <a:moveTo>
                    <a:pt x="0" y="0"/>
                  </a:moveTo>
                  <a:lnTo>
                    <a:pt x="9329293" y="0"/>
                  </a:lnTo>
                  <a:lnTo>
                    <a:pt x="9329293" y="10251681"/>
                  </a:lnTo>
                  <a:lnTo>
                    <a:pt x="0" y="10251681"/>
                  </a:lnTo>
                  <a:close/>
                </a:path>
              </a:pathLst>
            </a:custGeom>
            <a:solidFill>
              <a:srgbClr val="FEFEF7"/>
            </a:solidFill>
          </p:spPr>
          <p:txBody>
            <a:bodyPr/>
            <a:lstStyle/>
            <a:p>
              <a:endParaRPr lang="en-US"/>
            </a:p>
          </p:txBody>
        </p:sp>
      </p:grpSp>
      <p:grpSp>
        <p:nvGrpSpPr>
          <p:cNvPr id="7" name="Group 7"/>
          <p:cNvGrpSpPr/>
          <p:nvPr/>
        </p:nvGrpSpPr>
        <p:grpSpPr>
          <a:xfrm>
            <a:off x="2848182" y="782403"/>
            <a:ext cx="3243519" cy="781252"/>
            <a:chOff x="0" y="0"/>
            <a:chExt cx="4324692" cy="1041670"/>
          </a:xfrm>
        </p:grpSpPr>
        <p:sp>
          <p:nvSpPr>
            <p:cNvPr id="8" name="Freeform 8"/>
            <p:cNvSpPr/>
            <p:nvPr/>
          </p:nvSpPr>
          <p:spPr>
            <a:xfrm>
              <a:off x="0" y="0"/>
              <a:ext cx="4324731" cy="1041654"/>
            </a:xfrm>
            <a:custGeom>
              <a:avLst/>
              <a:gdLst/>
              <a:ahLst/>
              <a:cxnLst/>
              <a:rect l="l" t="t" r="r" b="b"/>
              <a:pathLst>
                <a:path w="4324731" h="1041654">
                  <a:moveTo>
                    <a:pt x="0" y="0"/>
                  </a:moveTo>
                  <a:lnTo>
                    <a:pt x="4324731" y="0"/>
                  </a:lnTo>
                  <a:lnTo>
                    <a:pt x="4324731" y="1041654"/>
                  </a:lnTo>
                  <a:lnTo>
                    <a:pt x="0" y="1041654"/>
                  </a:lnTo>
                  <a:close/>
                </a:path>
              </a:pathLst>
            </a:custGeom>
            <a:solidFill>
              <a:srgbClr val="F8EAD4">
                <a:alpha val="63922"/>
              </a:srgbClr>
            </a:solidFill>
          </p:spPr>
          <p:txBody>
            <a:bodyPr/>
            <a:lstStyle/>
            <a:p>
              <a:endParaRPr lang="en-US"/>
            </a:p>
          </p:txBody>
        </p:sp>
      </p:grpSp>
      <p:sp>
        <p:nvSpPr>
          <p:cNvPr id="9" name="Freeform 9"/>
          <p:cNvSpPr/>
          <p:nvPr/>
        </p:nvSpPr>
        <p:spPr>
          <a:xfrm>
            <a:off x="1349221" y="2776477"/>
            <a:ext cx="4157638" cy="1758200"/>
          </a:xfrm>
          <a:custGeom>
            <a:avLst/>
            <a:gdLst/>
            <a:ahLst/>
            <a:cxnLst/>
            <a:rect l="l" t="t" r="r" b="b"/>
            <a:pathLst>
              <a:path w="4157638" h="1758200">
                <a:moveTo>
                  <a:pt x="0" y="0"/>
                </a:moveTo>
                <a:lnTo>
                  <a:pt x="4157638" y="0"/>
                </a:lnTo>
                <a:lnTo>
                  <a:pt x="4157638" y="1758200"/>
                </a:lnTo>
                <a:lnTo>
                  <a:pt x="0" y="1758200"/>
                </a:lnTo>
                <a:lnTo>
                  <a:pt x="0" y="0"/>
                </a:lnTo>
                <a:close/>
              </a:path>
            </a:pathLst>
          </a:custGeom>
          <a:blipFill>
            <a:blip r:embed="rId4"/>
            <a:stretch>
              <a:fillRect t="-1132"/>
            </a:stretch>
          </a:blipFill>
        </p:spPr>
        <p:txBody>
          <a:bodyPr/>
          <a:lstStyle/>
          <a:p>
            <a:endParaRPr lang="en-US"/>
          </a:p>
        </p:txBody>
      </p:sp>
      <p:sp>
        <p:nvSpPr>
          <p:cNvPr id="10" name="Freeform 10"/>
          <p:cNvSpPr/>
          <p:nvPr/>
        </p:nvSpPr>
        <p:spPr>
          <a:xfrm rot="-8320250" flipV="1">
            <a:off x="4286479" y="2772151"/>
            <a:ext cx="1074182" cy="303456"/>
          </a:xfrm>
          <a:custGeom>
            <a:avLst/>
            <a:gdLst/>
            <a:ahLst/>
            <a:cxnLst/>
            <a:rect l="l" t="t" r="r" b="b"/>
            <a:pathLst>
              <a:path w="1074182" h="303456">
                <a:moveTo>
                  <a:pt x="0" y="303457"/>
                </a:moveTo>
                <a:lnTo>
                  <a:pt x="1074182" y="303457"/>
                </a:lnTo>
                <a:lnTo>
                  <a:pt x="1074182" y="0"/>
                </a:lnTo>
                <a:lnTo>
                  <a:pt x="0" y="0"/>
                </a:lnTo>
                <a:lnTo>
                  <a:pt x="0" y="303457"/>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flipH="1">
            <a:off x="3248266" y="5623673"/>
            <a:ext cx="4157638" cy="1758200"/>
          </a:xfrm>
          <a:custGeom>
            <a:avLst/>
            <a:gdLst/>
            <a:ahLst/>
            <a:cxnLst/>
            <a:rect l="l" t="t" r="r" b="b"/>
            <a:pathLst>
              <a:path w="4157638" h="1758200">
                <a:moveTo>
                  <a:pt x="4157639" y="0"/>
                </a:moveTo>
                <a:lnTo>
                  <a:pt x="0" y="0"/>
                </a:lnTo>
                <a:lnTo>
                  <a:pt x="0" y="1758201"/>
                </a:lnTo>
                <a:lnTo>
                  <a:pt x="4157639" y="1758201"/>
                </a:lnTo>
                <a:lnTo>
                  <a:pt x="4157639" y="0"/>
                </a:lnTo>
                <a:close/>
              </a:path>
            </a:pathLst>
          </a:custGeom>
          <a:blipFill>
            <a:blip r:embed="rId4"/>
            <a:stretch>
              <a:fillRect t="-1132"/>
            </a:stretch>
          </a:blipFill>
        </p:spPr>
        <p:txBody>
          <a:bodyPr/>
          <a:lstStyle/>
          <a:p>
            <a:endParaRPr lang="en-US"/>
          </a:p>
        </p:txBody>
      </p:sp>
      <p:sp>
        <p:nvSpPr>
          <p:cNvPr id="12" name="Freeform 12"/>
          <p:cNvSpPr/>
          <p:nvPr/>
        </p:nvSpPr>
        <p:spPr>
          <a:xfrm>
            <a:off x="1279498" y="5775804"/>
            <a:ext cx="1968768" cy="1768312"/>
          </a:xfrm>
          <a:custGeom>
            <a:avLst/>
            <a:gdLst/>
            <a:ahLst/>
            <a:cxnLst/>
            <a:rect l="l" t="t" r="r" b="b"/>
            <a:pathLst>
              <a:path w="1968768" h="1768312">
                <a:moveTo>
                  <a:pt x="0" y="0"/>
                </a:moveTo>
                <a:lnTo>
                  <a:pt x="1968768" y="0"/>
                </a:lnTo>
                <a:lnTo>
                  <a:pt x="1968768" y="1768312"/>
                </a:lnTo>
                <a:lnTo>
                  <a:pt x="0" y="176831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3" name="Group 13"/>
          <p:cNvGrpSpPr/>
          <p:nvPr/>
        </p:nvGrpSpPr>
        <p:grpSpPr>
          <a:xfrm>
            <a:off x="5506859" y="2455256"/>
            <a:ext cx="1531155" cy="1385437"/>
            <a:chOff x="0" y="0"/>
            <a:chExt cx="2041541" cy="1847250"/>
          </a:xfrm>
        </p:grpSpPr>
        <p:sp>
          <p:nvSpPr>
            <p:cNvPr id="14" name="Freeform 14"/>
            <p:cNvSpPr/>
            <p:nvPr/>
          </p:nvSpPr>
          <p:spPr>
            <a:xfrm>
              <a:off x="0" y="0"/>
              <a:ext cx="1630835" cy="1521124"/>
            </a:xfrm>
            <a:custGeom>
              <a:avLst/>
              <a:gdLst/>
              <a:ahLst/>
              <a:cxnLst/>
              <a:rect l="l" t="t" r="r" b="b"/>
              <a:pathLst>
                <a:path w="1630835" h="1521124">
                  <a:moveTo>
                    <a:pt x="0" y="0"/>
                  </a:moveTo>
                  <a:lnTo>
                    <a:pt x="1630835" y="0"/>
                  </a:lnTo>
                  <a:lnTo>
                    <a:pt x="1630835" y="1521124"/>
                  </a:lnTo>
                  <a:lnTo>
                    <a:pt x="0" y="15211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5" name="Freeform 15"/>
            <p:cNvSpPr/>
            <p:nvPr/>
          </p:nvSpPr>
          <p:spPr>
            <a:xfrm>
              <a:off x="1220130" y="801472"/>
              <a:ext cx="821411" cy="1045778"/>
            </a:xfrm>
            <a:custGeom>
              <a:avLst/>
              <a:gdLst/>
              <a:ahLst/>
              <a:cxnLst/>
              <a:rect l="l" t="t" r="r" b="b"/>
              <a:pathLst>
                <a:path w="821411" h="1045778">
                  <a:moveTo>
                    <a:pt x="0" y="0"/>
                  </a:moveTo>
                  <a:lnTo>
                    <a:pt x="821411" y="0"/>
                  </a:lnTo>
                  <a:lnTo>
                    <a:pt x="821411" y="1045778"/>
                  </a:lnTo>
                  <a:lnTo>
                    <a:pt x="0" y="104577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sp>
        <p:nvSpPr>
          <p:cNvPr id="16" name="TextBox 16"/>
          <p:cNvSpPr txBox="1"/>
          <p:nvPr/>
        </p:nvSpPr>
        <p:spPr>
          <a:xfrm>
            <a:off x="1567492" y="1876370"/>
            <a:ext cx="6996961" cy="374523"/>
          </a:xfrm>
          <a:prstGeom prst="rect">
            <a:avLst/>
          </a:prstGeom>
        </p:spPr>
        <p:txBody>
          <a:bodyPr lIns="0" tIns="0" rIns="0" bIns="0" rtlCol="0" anchor="t">
            <a:spAutoFit/>
          </a:bodyPr>
          <a:lstStyle/>
          <a:p>
            <a:pPr algn="ctr">
              <a:lnSpc>
                <a:spcPts val="2915"/>
              </a:lnSpc>
              <a:spcBef>
                <a:spcPct val="0"/>
              </a:spcBef>
            </a:pPr>
            <a:r>
              <a:rPr lang="en-US" sz="2699">
                <a:solidFill>
                  <a:srgbClr val="000000"/>
                </a:solidFill>
                <a:latin typeface="Cooper BT Light"/>
                <a:ea typeface="Cooper BT Light"/>
                <a:cs typeface="Cooper BT Light"/>
                <a:sym typeface="Cooper BT Light"/>
              </a:rPr>
              <a:t>Who’s my nearest neighbor?</a:t>
            </a:r>
          </a:p>
        </p:txBody>
      </p:sp>
      <p:sp>
        <p:nvSpPr>
          <p:cNvPr id="17" name="TextBox 17"/>
          <p:cNvSpPr txBox="1"/>
          <p:nvPr/>
        </p:nvSpPr>
        <p:spPr>
          <a:xfrm>
            <a:off x="821573" y="5160606"/>
            <a:ext cx="6996961" cy="374523"/>
          </a:xfrm>
          <a:prstGeom prst="rect">
            <a:avLst/>
          </a:prstGeom>
        </p:spPr>
        <p:txBody>
          <a:bodyPr lIns="0" tIns="0" rIns="0" bIns="0" rtlCol="0" anchor="t">
            <a:spAutoFit/>
          </a:bodyPr>
          <a:lstStyle/>
          <a:p>
            <a:pPr algn="ctr">
              <a:lnSpc>
                <a:spcPts val="2915"/>
              </a:lnSpc>
              <a:spcBef>
                <a:spcPct val="0"/>
              </a:spcBef>
            </a:pPr>
            <a:r>
              <a:rPr lang="en-US" sz="2699">
                <a:solidFill>
                  <a:srgbClr val="000000"/>
                </a:solidFill>
                <a:latin typeface="Cooper BT Light"/>
                <a:ea typeface="Cooper BT Light"/>
                <a:cs typeface="Cooper BT Light"/>
                <a:sym typeface="Cooper BT Light"/>
              </a:rPr>
              <a:t>It’s ME!!!!!!</a:t>
            </a:r>
          </a:p>
        </p:txBody>
      </p:sp>
      <p:sp>
        <p:nvSpPr>
          <p:cNvPr id="18" name="TextBox 18"/>
          <p:cNvSpPr txBox="1"/>
          <p:nvPr/>
        </p:nvSpPr>
        <p:spPr>
          <a:xfrm>
            <a:off x="8679789" y="696677"/>
            <a:ext cx="9608211" cy="1590179"/>
          </a:xfrm>
          <a:prstGeom prst="rect">
            <a:avLst/>
          </a:prstGeom>
        </p:spPr>
        <p:txBody>
          <a:bodyPr wrap="square" lIns="0" tIns="0" rIns="0" bIns="0" rtlCol="0" anchor="t">
            <a:spAutoFit/>
          </a:bodyPr>
          <a:lstStyle/>
          <a:p>
            <a:pPr algn="ctr">
              <a:lnSpc>
                <a:spcPts val="6177"/>
              </a:lnSpc>
            </a:pPr>
            <a:r>
              <a:rPr lang="en-US" sz="4412" b="1" dirty="0">
                <a:solidFill>
                  <a:srgbClr val="F8EAD4"/>
                </a:solidFill>
                <a:latin typeface="Vollkorn Bold"/>
                <a:ea typeface="Vollkorn Bold"/>
                <a:cs typeface="Vollkorn Bold"/>
                <a:sym typeface="Vollkorn Bold"/>
              </a:rPr>
              <a:t>Predicting NYC Taxi tips </a:t>
            </a:r>
          </a:p>
          <a:p>
            <a:pPr algn="ctr">
              <a:lnSpc>
                <a:spcPts val="6177"/>
              </a:lnSpc>
            </a:pPr>
            <a:r>
              <a:rPr lang="en-US" sz="4412" b="1" dirty="0">
                <a:solidFill>
                  <a:srgbClr val="F8EAD4"/>
                </a:solidFill>
                <a:latin typeface="Vollkorn Bold"/>
                <a:ea typeface="Vollkorn Bold"/>
                <a:cs typeface="Vollkorn Bold"/>
                <a:sym typeface="Vollkorn Bold"/>
              </a:rPr>
              <a:t>using K - Nearest Neighbors (K-NN)</a:t>
            </a:r>
          </a:p>
        </p:txBody>
      </p:sp>
      <p:sp>
        <p:nvSpPr>
          <p:cNvPr id="19" name="TextBox 19"/>
          <p:cNvSpPr txBox="1"/>
          <p:nvPr/>
        </p:nvSpPr>
        <p:spPr>
          <a:xfrm>
            <a:off x="8718256" y="3878794"/>
            <a:ext cx="9569744" cy="1685208"/>
          </a:xfrm>
          <a:prstGeom prst="rect">
            <a:avLst/>
          </a:prstGeom>
        </p:spPr>
        <p:txBody>
          <a:bodyPr lIns="0" tIns="0" rIns="0" bIns="0" rtlCol="0" anchor="t">
            <a:spAutoFit/>
          </a:bodyPr>
          <a:lstStyle/>
          <a:p>
            <a:pPr algn="l">
              <a:lnSpc>
                <a:spcPts val="3324"/>
              </a:lnSpc>
            </a:pPr>
            <a:r>
              <a:rPr lang="en-US" sz="3077" b="1">
                <a:solidFill>
                  <a:srgbClr val="FABB35"/>
                </a:solidFill>
                <a:latin typeface="Vollkorn Bold"/>
                <a:ea typeface="Vollkorn Bold"/>
                <a:cs typeface="Vollkorn Bold"/>
                <a:sym typeface="Vollkorn Bold"/>
              </a:rPr>
              <a:t>What is k-NN?</a:t>
            </a:r>
          </a:p>
          <a:p>
            <a:pPr algn="l">
              <a:lnSpc>
                <a:spcPts val="3324"/>
              </a:lnSpc>
            </a:pPr>
            <a:endParaRPr lang="en-US" sz="3077" b="1">
              <a:solidFill>
                <a:srgbClr val="FABB35"/>
              </a:solidFill>
              <a:latin typeface="Vollkorn Bold"/>
              <a:ea typeface="Vollkorn Bold"/>
              <a:cs typeface="Vollkorn Bold"/>
              <a:sym typeface="Vollkorn Bold"/>
            </a:endParaRPr>
          </a:p>
          <a:p>
            <a:pPr algn="l">
              <a:lnSpc>
                <a:spcPts val="3324"/>
              </a:lnSpc>
              <a:spcBef>
                <a:spcPct val="0"/>
              </a:spcBef>
            </a:pPr>
            <a:r>
              <a:rPr lang="en-US" sz="3077">
                <a:solidFill>
                  <a:srgbClr val="FFFFFF"/>
                </a:solidFill>
                <a:latin typeface="Vollkorn"/>
                <a:ea typeface="Vollkorn"/>
                <a:cs typeface="Vollkorn"/>
                <a:sym typeface="Vollkorn"/>
              </a:rPr>
              <a:t>“For any new trip, find the most similar past trips and use their average tip to predict the new one.”</a:t>
            </a:r>
          </a:p>
        </p:txBody>
      </p:sp>
      <p:sp>
        <p:nvSpPr>
          <p:cNvPr id="20" name="TextBox 20"/>
          <p:cNvSpPr txBox="1"/>
          <p:nvPr/>
        </p:nvSpPr>
        <p:spPr>
          <a:xfrm>
            <a:off x="8718683" y="6987539"/>
            <a:ext cx="9125049" cy="826770"/>
          </a:xfrm>
          <a:prstGeom prst="rect">
            <a:avLst/>
          </a:prstGeom>
        </p:spPr>
        <p:txBody>
          <a:bodyPr lIns="0" tIns="0" rIns="0" bIns="0" rtlCol="0" anchor="t">
            <a:spAutoFit/>
          </a:bodyPr>
          <a:lstStyle/>
          <a:p>
            <a:pPr algn="ctr">
              <a:lnSpc>
                <a:spcPts val="3239"/>
              </a:lnSpc>
              <a:spcBef>
                <a:spcPct val="0"/>
              </a:spcBef>
            </a:pPr>
            <a:r>
              <a:rPr lang="en-US" sz="2999">
                <a:solidFill>
                  <a:srgbClr val="F7D3BC"/>
                </a:solidFill>
                <a:latin typeface="Vollkorn"/>
                <a:ea typeface="Vollkorn"/>
                <a:cs typeface="Vollkorn"/>
                <a:sym typeface="Vollkorn"/>
              </a:rPr>
              <a:t>Think of it like asking:</a:t>
            </a:r>
          </a:p>
          <a:p>
            <a:pPr algn="ctr">
              <a:lnSpc>
                <a:spcPts val="3239"/>
              </a:lnSpc>
              <a:spcBef>
                <a:spcPct val="0"/>
              </a:spcBef>
            </a:pPr>
            <a:r>
              <a:rPr lang="en-US" sz="2999">
                <a:solidFill>
                  <a:srgbClr val="FFFFFF"/>
                </a:solidFill>
                <a:latin typeface="Vollkorn"/>
                <a:ea typeface="Vollkorn"/>
                <a:cs typeface="Vollkorn"/>
                <a:sym typeface="Vollkorn"/>
              </a:rPr>
              <a:t> "What did similar customers tip in similar situations?"</a:t>
            </a:r>
          </a:p>
        </p:txBody>
      </p:sp>
      <p:sp>
        <p:nvSpPr>
          <p:cNvPr id="21" name="Freeform 21"/>
          <p:cNvSpPr/>
          <p:nvPr/>
        </p:nvSpPr>
        <p:spPr>
          <a:xfrm rot="-1425824">
            <a:off x="2863786" y="5738694"/>
            <a:ext cx="1074182" cy="303456"/>
          </a:xfrm>
          <a:custGeom>
            <a:avLst/>
            <a:gdLst/>
            <a:ahLst/>
            <a:cxnLst/>
            <a:rect l="l" t="t" r="r" b="b"/>
            <a:pathLst>
              <a:path w="1074182" h="303456">
                <a:moveTo>
                  <a:pt x="0" y="0"/>
                </a:moveTo>
                <a:lnTo>
                  <a:pt x="1074182" y="0"/>
                </a:lnTo>
                <a:lnTo>
                  <a:pt x="1074182" y="303457"/>
                </a:lnTo>
                <a:lnTo>
                  <a:pt x="0" y="3034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1598"/>
            <a:ext cx="18286515" cy="10298598"/>
            <a:chOff x="0" y="0"/>
            <a:chExt cx="24382020" cy="13731464"/>
          </a:xfrm>
        </p:grpSpPr>
        <p:sp>
          <p:nvSpPr>
            <p:cNvPr id="3" name="Freeform 3"/>
            <p:cNvSpPr/>
            <p:nvPr/>
          </p:nvSpPr>
          <p:spPr>
            <a:xfrm>
              <a:off x="0" y="0"/>
              <a:ext cx="24381968" cy="13731494"/>
            </a:xfrm>
            <a:custGeom>
              <a:avLst/>
              <a:gdLst/>
              <a:ahLst/>
              <a:cxnLst/>
              <a:rect l="l" t="t" r="r" b="b"/>
              <a:pathLst>
                <a:path w="24381968" h="13731494">
                  <a:moveTo>
                    <a:pt x="0" y="0"/>
                  </a:moveTo>
                  <a:lnTo>
                    <a:pt x="24381968" y="0"/>
                  </a:lnTo>
                  <a:lnTo>
                    <a:pt x="24381968" y="13731494"/>
                  </a:lnTo>
                  <a:lnTo>
                    <a:pt x="0" y="13731494"/>
                  </a:lnTo>
                  <a:close/>
                </a:path>
              </a:pathLst>
            </a:custGeom>
            <a:solidFill>
              <a:srgbClr val="D98364"/>
            </a:solidFill>
          </p:spPr>
          <p:txBody>
            <a:bodyPr/>
            <a:lstStyle/>
            <a:p>
              <a:endParaRPr lang="en-US"/>
            </a:p>
          </p:txBody>
        </p:sp>
      </p:grpSp>
      <p:sp>
        <p:nvSpPr>
          <p:cNvPr id="4" name="Freeform 4"/>
          <p:cNvSpPr/>
          <p:nvPr/>
        </p:nvSpPr>
        <p:spPr>
          <a:xfrm rot="-10800000" flipV="1">
            <a:off x="-11" y="-11469"/>
            <a:ext cx="18286526" cy="7631469"/>
          </a:xfrm>
          <a:custGeom>
            <a:avLst/>
            <a:gdLst/>
            <a:ahLst/>
            <a:cxnLst/>
            <a:rect l="l" t="t" r="r" b="b"/>
            <a:pathLst>
              <a:path w="18286526" h="7631469">
                <a:moveTo>
                  <a:pt x="0" y="7631469"/>
                </a:moveTo>
                <a:lnTo>
                  <a:pt x="18286526" y="7631469"/>
                </a:lnTo>
                <a:lnTo>
                  <a:pt x="18286526" y="0"/>
                </a:lnTo>
                <a:lnTo>
                  <a:pt x="0" y="0"/>
                </a:lnTo>
                <a:lnTo>
                  <a:pt x="0" y="7631469"/>
                </a:lnTo>
                <a:close/>
              </a:path>
            </a:pathLst>
          </a:custGeom>
          <a:blipFill>
            <a:blip r:embed="rId3">
              <a:alphaModFix amt="5000"/>
            </a:blip>
            <a:stretch>
              <a:fillRect l="-3754" r="-2272" b="-51923"/>
            </a:stretch>
          </a:blipFill>
        </p:spPr>
        <p:txBody>
          <a:bodyPr/>
          <a:lstStyle/>
          <a:p>
            <a:endParaRPr lang="en-US"/>
          </a:p>
        </p:txBody>
      </p:sp>
      <p:grpSp>
        <p:nvGrpSpPr>
          <p:cNvPr id="5" name="Group 5"/>
          <p:cNvGrpSpPr/>
          <p:nvPr/>
        </p:nvGrpSpPr>
        <p:grpSpPr>
          <a:xfrm>
            <a:off x="808990" y="5110143"/>
            <a:ext cx="4085306" cy="4304624"/>
            <a:chOff x="0" y="0"/>
            <a:chExt cx="5447074" cy="5739498"/>
          </a:xfrm>
        </p:grpSpPr>
        <p:sp>
          <p:nvSpPr>
            <p:cNvPr id="6" name="Freeform 6"/>
            <p:cNvSpPr/>
            <p:nvPr/>
          </p:nvSpPr>
          <p:spPr>
            <a:xfrm>
              <a:off x="0" y="0"/>
              <a:ext cx="5447030" cy="5739511"/>
            </a:xfrm>
            <a:custGeom>
              <a:avLst/>
              <a:gdLst/>
              <a:ahLst/>
              <a:cxnLst/>
              <a:rect l="l" t="t" r="r" b="b"/>
              <a:pathLst>
                <a:path w="5447030" h="5739511">
                  <a:moveTo>
                    <a:pt x="0" y="0"/>
                  </a:moveTo>
                  <a:lnTo>
                    <a:pt x="5447030" y="0"/>
                  </a:lnTo>
                  <a:lnTo>
                    <a:pt x="5447030" y="5739511"/>
                  </a:lnTo>
                  <a:lnTo>
                    <a:pt x="0" y="5739511"/>
                  </a:lnTo>
                  <a:close/>
                </a:path>
              </a:pathLst>
            </a:custGeom>
            <a:solidFill>
              <a:srgbClr val="FFFFFF"/>
            </a:solidFill>
          </p:spPr>
          <p:txBody>
            <a:bodyPr/>
            <a:lstStyle/>
            <a:p>
              <a:endParaRPr lang="en-US"/>
            </a:p>
          </p:txBody>
        </p:sp>
      </p:grpSp>
      <p:grpSp>
        <p:nvGrpSpPr>
          <p:cNvPr id="7" name="Group 7"/>
          <p:cNvGrpSpPr/>
          <p:nvPr/>
        </p:nvGrpSpPr>
        <p:grpSpPr>
          <a:xfrm>
            <a:off x="1710588" y="4639558"/>
            <a:ext cx="2282111" cy="737796"/>
            <a:chOff x="0" y="0"/>
            <a:chExt cx="3042814" cy="983728"/>
          </a:xfrm>
        </p:grpSpPr>
        <p:sp>
          <p:nvSpPr>
            <p:cNvPr id="8" name="Freeform 8"/>
            <p:cNvSpPr/>
            <p:nvPr/>
          </p:nvSpPr>
          <p:spPr>
            <a:xfrm>
              <a:off x="0" y="0"/>
              <a:ext cx="3042793" cy="983742"/>
            </a:xfrm>
            <a:custGeom>
              <a:avLst/>
              <a:gdLst/>
              <a:ahLst/>
              <a:cxnLst/>
              <a:rect l="l" t="t" r="r" b="b"/>
              <a:pathLst>
                <a:path w="3042793" h="983742">
                  <a:moveTo>
                    <a:pt x="0" y="0"/>
                  </a:moveTo>
                  <a:lnTo>
                    <a:pt x="3042793" y="0"/>
                  </a:lnTo>
                  <a:lnTo>
                    <a:pt x="3042793" y="983742"/>
                  </a:lnTo>
                  <a:lnTo>
                    <a:pt x="0" y="983742"/>
                  </a:lnTo>
                  <a:close/>
                </a:path>
              </a:pathLst>
            </a:custGeom>
            <a:solidFill>
              <a:srgbClr val="F8EAD4">
                <a:alpha val="63922"/>
              </a:srgbClr>
            </a:solidFill>
          </p:spPr>
          <p:txBody>
            <a:bodyPr/>
            <a:lstStyle/>
            <a:p>
              <a:endParaRPr lang="en-US"/>
            </a:p>
          </p:txBody>
        </p:sp>
      </p:grpSp>
      <p:grpSp>
        <p:nvGrpSpPr>
          <p:cNvPr id="9" name="Group 9"/>
          <p:cNvGrpSpPr/>
          <p:nvPr/>
        </p:nvGrpSpPr>
        <p:grpSpPr>
          <a:xfrm>
            <a:off x="13399728" y="1244736"/>
            <a:ext cx="4085306" cy="4304624"/>
            <a:chOff x="0" y="0"/>
            <a:chExt cx="5447074" cy="5739498"/>
          </a:xfrm>
        </p:grpSpPr>
        <p:sp>
          <p:nvSpPr>
            <p:cNvPr id="10" name="Freeform 10"/>
            <p:cNvSpPr/>
            <p:nvPr/>
          </p:nvSpPr>
          <p:spPr>
            <a:xfrm>
              <a:off x="0" y="0"/>
              <a:ext cx="5447030" cy="5739511"/>
            </a:xfrm>
            <a:custGeom>
              <a:avLst/>
              <a:gdLst/>
              <a:ahLst/>
              <a:cxnLst/>
              <a:rect l="l" t="t" r="r" b="b"/>
              <a:pathLst>
                <a:path w="5447030" h="5739511">
                  <a:moveTo>
                    <a:pt x="0" y="0"/>
                  </a:moveTo>
                  <a:lnTo>
                    <a:pt x="5447030" y="0"/>
                  </a:lnTo>
                  <a:lnTo>
                    <a:pt x="5447030" y="5739511"/>
                  </a:lnTo>
                  <a:lnTo>
                    <a:pt x="0" y="5739511"/>
                  </a:lnTo>
                  <a:close/>
                </a:path>
              </a:pathLst>
            </a:custGeom>
            <a:solidFill>
              <a:srgbClr val="FFFFFF"/>
            </a:solidFill>
          </p:spPr>
          <p:txBody>
            <a:bodyPr/>
            <a:lstStyle/>
            <a:p>
              <a:endParaRPr lang="en-US"/>
            </a:p>
          </p:txBody>
        </p:sp>
      </p:grpSp>
      <p:grpSp>
        <p:nvGrpSpPr>
          <p:cNvPr id="11" name="Group 11"/>
          <p:cNvGrpSpPr/>
          <p:nvPr/>
        </p:nvGrpSpPr>
        <p:grpSpPr>
          <a:xfrm>
            <a:off x="14293802" y="823903"/>
            <a:ext cx="2282110" cy="737796"/>
            <a:chOff x="0" y="0"/>
            <a:chExt cx="3042814" cy="983728"/>
          </a:xfrm>
        </p:grpSpPr>
        <p:sp>
          <p:nvSpPr>
            <p:cNvPr id="12" name="Freeform 12"/>
            <p:cNvSpPr/>
            <p:nvPr/>
          </p:nvSpPr>
          <p:spPr>
            <a:xfrm>
              <a:off x="0" y="0"/>
              <a:ext cx="3042793" cy="983742"/>
            </a:xfrm>
            <a:custGeom>
              <a:avLst/>
              <a:gdLst/>
              <a:ahLst/>
              <a:cxnLst/>
              <a:rect l="l" t="t" r="r" b="b"/>
              <a:pathLst>
                <a:path w="3042793" h="983742">
                  <a:moveTo>
                    <a:pt x="0" y="0"/>
                  </a:moveTo>
                  <a:lnTo>
                    <a:pt x="3042793" y="0"/>
                  </a:lnTo>
                  <a:lnTo>
                    <a:pt x="3042793" y="983742"/>
                  </a:lnTo>
                  <a:lnTo>
                    <a:pt x="0" y="983742"/>
                  </a:lnTo>
                  <a:close/>
                </a:path>
              </a:pathLst>
            </a:custGeom>
            <a:solidFill>
              <a:srgbClr val="F8EAD4">
                <a:alpha val="63922"/>
              </a:srgbClr>
            </a:solidFill>
          </p:spPr>
          <p:txBody>
            <a:bodyPr/>
            <a:lstStyle/>
            <a:p>
              <a:endParaRPr lang="en-US"/>
            </a:p>
          </p:txBody>
        </p:sp>
      </p:grpSp>
      <p:grpSp>
        <p:nvGrpSpPr>
          <p:cNvPr id="13" name="Group 13"/>
          <p:cNvGrpSpPr/>
          <p:nvPr/>
        </p:nvGrpSpPr>
        <p:grpSpPr>
          <a:xfrm>
            <a:off x="399772" y="399775"/>
            <a:ext cx="17488455" cy="9487450"/>
            <a:chOff x="0" y="0"/>
            <a:chExt cx="23317940" cy="12649934"/>
          </a:xfrm>
        </p:grpSpPr>
        <p:sp>
          <p:nvSpPr>
            <p:cNvPr id="14" name="Freeform 1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F8EAD4"/>
            </a:solidFill>
          </p:spPr>
          <p:txBody>
            <a:bodyPr/>
            <a:lstStyle/>
            <a:p>
              <a:endParaRPr lang="en-US"/>
            </a:p>
          </p:txBody>
        </p:sp>
      </p:grpSp>
      <p:sp>
        <p:nvSpPr>
          <p:cNvPr id="15" name="Freeform 15"/>
          <p:cNvSpPr/>
          <p:nvPr/>
        </p:nvSpPr>
        <p:spPr>
          <a:xfrm>
            <a:off x="13826582" y="2121961"/>
            <a:ext cx="3231598" cy="2517597"/>
          </a:xfrm>
          <a:custGeom>
            <a:avLst/>
            <a:gdLst/>
            <a:ahLst/>
            <a:cxnLst/>
            <a:rect l="l" t="t" r="r" b="b"/>
            <a:pathLst>
              <a:path w="3231598" h="2517597">
                <a:moveTo>
                  <a:pt x="0" y="0"/>
                </a:moveTo>
                <a:lnTo>
                  <a:pt x="3231598" y="0"/>
                </a:lnTo>
                <a:lnTo>
                  <a:pt x="3231598" y="2517597"/>
                </a:lnTo>
                <a:lnTo>
                  <a:pt x="0" y="25175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Freeform 16"/>
          <p:cNvSpPr/>
          <p:nvPr/>
        </p:nvSpPr>
        <p:spPr>
          <a:xfrm>
            <a:off x="2056503" y="6070399"/>
            <a:ext cx="1590281" cy="1990962"/>
          </a:xfrm>
          <a:custGeom>
            <a:avLst/>
            <a:gdLst/>
            <a:ahLst/>
            <a:cxnLst/>
            <a:rect l="l" t="t" r="r" b="b"/>
            <a:pathLst>
              <a:path w="1590281" h="1990962">
                <a:moveTo>
                  <a:pt x="0" y="0"/>
                </a:moveTo>
                <a:lnTo>
                  <a:pt x="1590281" y="0"/>
                </a:lnTo>
                <a:lnTo>
                  <a:pt x="1590281" y="1990962"/>
                </a:lnTo>
                <a:lnTo>
                  <a:pt x="0" y="1990962"/>
                </a:lnTo>
                <a:lnTo>
                  <a:pt x="0" y="0"/>
                </a:lnTo>
                <a:close/>
              </a:path>
            </a:pathLst>
          </a:custGeom>
          <a:blipFill>
            <a:blip r:embed="rId6"/>
            <a:stretch>
              <a:fillRect/>
            </a:stretch>
          </a:blipFill>
        </p:spPr>
        <p:txBody>
          <a:bodyPr/>
          <a:lstStyle/>
          <a:p>
            <a:endParaRPr lang="en-US"/>
          </a:p>
        </p:txBody>
      </p:sp>
      <p:sp>
        <p:nvSpPr>
          <p:cNvPr id="17" name="Freeform 17"/>
          <p:cNvSpPr/>
          <p:nvPr/>
        </p:nvSpPr>
        <p:spPr>
          <a:xfrm>
            <a:off x="1028700" y="6624519"/>
            <a:ext cx="1590281" cy="1990962"/>
          </a:xfrm>
          <a:custGeom>
            <a:avLst/>
            <a:gdLst/>
            <a:ahLst/>
            <a:cxnLst/>
            <a:rect l="l" t="t" r="r" b="b"/>
            <a:pathLst>
              <a:path w="1590281" h="1990962">
                <a:moveTo>
                  <a:pt x="0" y="0"/>
                </a:moveTo>
                <a:lnTo>
                  <a:pt x="1590281" y="0"/>
                </a:lnTo>
                <a:lnTo>
                  <a:pt x="1590281" y="1990962"/>
                </a:lnTo>
                <a:lnTo>
                  <a:pt x="0" y="1990962"/>
                </a:lnTo>
                <a:lnTo>
                  <a:pt x="0" y="0"/>
                </a:lnTo>
                <a:close/>
              </a:path>
            </a:pathLst>
          </a:custGeom>
          <a:blipFill>
            <a:blip r:embed="rId6"/>
            <a:stretch>
              <a:fillRect/>
            </a:stretch>
          </a:blipFill>
        </p:spPr>
        <p:txBody>
          <a:bodyPr/>
          <a:lstStyle/>
          <a:p>
            <a:endParaRPr lang="en-US"/>
          </a:p>
        </p:txBody>
      </p:sp>
      <p:sp>
        <p:nvSpPr>
          <p:cNvPr id="18" name="Freeform 18"/>
          <p:cNvSpPr/>
          <p:nvPr/>
        </p:nvSpPr>
        <p:spPr>
          <a:xfrm>
            <a:off x="2851643" y="6624519"/>
            <a:ext cx="1590281" cy="1990962"/>
          </a:xfrm>
          <a:custGeom>
            <a:avLst/>
            <a:gdLst/>
            <a:ahLst/>
            <a:cxnLst/>
            <a:rect l="l" t="t" r="r" b="b"/>
            <a:pathLst>
              <a:path w="1590281" h="1990962">
                <a:moveTo>
                  <a:pt x="0" y="0"/>
                </a:moveTo>
                <a:lnTo>
                  <a:pt x="1590281" y="0"/>
                </a:lnTo>
                <a:lnTo>
                  <a:pt x="1590281" y="1990962"/>
                </a:lnTo>
                <a:lnTo>
                  <a:pt x="0" y="1990962"/>
                </a:lnTo>
                <a:lnTo>
                  <a:pt x="0" y="0"/>
                </a:lnTo>
                <a:close/>
              </a:path>
            </a:pathLst>
          </a:custGeom>
          <a:blipFill>
            <a:blip r:embed="rId6"/>
            <a:stretch>
              <a:fillRect/>
            </a:stretch>
          </a:blipFill>
        </p:spPr>
        <p:txBody>
          <a:bodyPr/>
          <a:lstStyle/>
          <a:p>
            <a:endParaRPr lang="en-US"/>
          </a:p>
        </p:txBody>
      </p:sp>
      <p:sp>
        <p:nvSpPr>
          <p:cNvPr id="19" name="TextBox 19"/>
          <p:cNvSpPr txBox="1"/>
          <p:nvPr/>
        </p:nvSpPr>
        <p:spPr>
          <a:xfrm>
            <a:off x="808990" y="871528"/>
            <a:ext cx="7869429" cy="481991"/>
          </a:xfrm>
          <a:prstGeom prst="rect">
            <a:avLst/>
          </a:prstGeom>
        </p:spPr>
        <p:txBody>
          <a:bodyPr lIns="0" tIns="0" rIns="0" bIns="0" rtlCol="0" anchor="t">
            <a:spAutoFit/>
          </a:bodyPr>
          <a:lstStyle/>
          <a:p>
            <a:pPr algn="ctr">
              <a:lnSpc>
                <a:spcPts val="3781"/>
              </a:lnSpc>
              <a:spcBef>
                <a:spcPct val="0"/>
              </a:spcBef>
            </a:pPr>
            <a:r>
              <a:rPr lang="en-US" sz="3501" b="1">
                <a:solidFill>
                  <a:srgbClr val="F8EAD4"/>
                </a:solidFill>
                <a:latin typeface="Vollkorn Bold"/>
                <a:ea typeface="Vollkorn Bold"/>
                <a:cs typeface="Vollkorn Bold"/>
                <a:sym typeface="Vollkorn Bold"/>
              </a:rPr>
              <a:t>Why is it Useful?</a:t>
            </a:r>
          </a:p>
        </p:txBody>
      </p:sp>
      <p:sp>
        <p:nvSpPr>
          <p:cNvPr id="20" name="TextBox 20"/>
          <p:cNvSpPr txBox="1"/>
          <p:nvPr/>
        </p:nvSpPr>
        <p:spPr>
          <a:xfrm>
            <a:off x="639471" y="1457465"/>
            <a:ext cx="12999955" cy="2870414"/>
          </a:xfrm>
          <a:prstGeom prst="rect">
            <a:avLst/>
          </a:prstGeom>
        </p:spPr>
        <p:txBody>
          <a:bodyPr lIns="0" tIns="0" rIns="0" bIns="0" rtlCol="0" anchor="t">
            <a:spAutoFit/>
          </a:bodyPr>
          <a:lstStyle/>
          <a:p>
            <a:pPr marL="649970" lvl="1" indent="-324985" algn="l">
              <a:lnSpc>
                <a:spcPts val="5870"/>
              </a:lnSpc>
              <a:buFont typeface="Arial"/>
              <a:buChar char="•"/>
            </a:pPr>
            <a:r>
              <a:rPr lang="en-US" sz="3010">
                <a:solidFill>
                  <a:srgbClr val="000000"/>
                </a:solidFill>
                <a:latin typeface="Vollkorn"/>
                <a:ea typeface="Vollkorn"/>
                <a:cs typeface="Vollkorn"/>
                <a:sym typeface="Vollkorn"/>
              </a:rPr>
              <a:t>No heavy math – It learns from real trips, not assumptions.</a:t>
            </a:r>
          </a:p>
          <a:p>
            <a:pPr marL="649970" lvl="1" indent="-324985" algn="l">
              <a:lnSpc>
                <a:spcPts val="5870"/>
              </a:lnSpc>
              <a:buFont typeface="Arial"/>
              <a:buChar char="•"/>
            </a:pPr>
            <a:r>
              <a:rPr lang="en-US" sz="3010">
                <a:solidFill>
                  <a:srgbClr val="000000"/>
                </a:solidFill>
                <a:latin typeface="Vollkorn"/>
                <a:ea typeface="Vollkorn"/>
                <a:cs typeface="Vollkorn"/>
                <a:sym typeface="Vollkorn"/>
              </a:rPr>
              <a:t>Adapts to behavior – Accounts for patterns by day, borough, distance.</a:t>
            </a:r>
          </a:p>
          <a:p>
            <a:pPr marL="649970" lvl="1" indent="-324985" algn="l">
              <a:lnSpc>
                <a:spcPts val="5870"/>
              </a:lnSpc>
              <a:buFont typeface="Arial"/>
              <a:buChar char="•"/>
            </a:pPr>
            <a:r>
              <a:rPr lang="en-US" sz="3010">
                <a:solidFill>
                  <a:srgbClr val="000000"/>
                </a:solidFill>
                <a:latin typeface="Vollkorn"/>
                <a:ea typeface="Vollkorn"/>
                <a:cs typeface="Vollkorn"/>
                <a:sym typeface="Vollkorn"/>
              </a:rPr>
              <a:t>Business insight – Helps forecast tips &amp; support pricing decisions.</a:t>
            </a:r>
          </a:p>
          <a:p>
            <a:pPr algn="ctr">
              <a:lnSpc>
                <a:spcPts val="3251"/>
              </a:lnSpc>
              <a:spcBef>
                <a:spcPct val="0"/>
              </a:spcBef>
            </a:pPr>
            <a:endParaRPr lang="en-US" sz="3010">
              <a:solidFill>
                <a:srgbClr val="000000"/>
              </a:solidFill>
              <a:latin typeface="Vollkorn"/>
              <a:ea typeface="Vollkorn"/>
              <a:cs typeface="Vollkorn"/>
              <a:sym typeface="Vollkorn"/>
            </a:endParaRPr>
          </a:p>
        </p:txBody>
      </p:sp>
      <p:sp>
        <p:nvSpPr>
          <p:cNvPr id="21" name="TextBox 21"/>
          <p:cNvSpPr txBox="1"/>
          <p:nvPr/>
        </p:nvSpPr>
        <p:spPr>
          <a:xfrm>
            <a:off x="5285615" y="4137380"/>
            <a:ext cx="11592719" cy="2788921"/>
          </a:xfrm>
          <a:prstGeom prst="rect">
            <a:avLst/>
          </a:prstGeom>
        </p:spPr>
        <p:txBody>
          <a:bodyPr lIns="0" tIns="0" rIns="0" bIns="0" rtlCol="0" anchor="t">
            <a:spAutoFit/>
          </a:bodyPr>
          <a:lstStyle/>
          <a:p>
            <a:pPr algn="l">
              <a:lnSpc>
                <a:spcPts val="5639"/>
              </a:lnSpc>
            </a:pPr>
            <a:r>
              <a:rPr lang="en-US" sz="2999" b="1">
                <a:solidFill>
                  <a:srgbClr val="F8EAD4"/>
                </a:solidFill>
                <a:latin typeface="Vollkorn Bold"/>
                <a:ea typeface="Vollkorn Bold"/>
                <a:cs typeface="Vollkorn Bold"/>
                <a:sym typeface="Vollkorn Bold"/>
              </a:rPr>
              <a:t>Model Results (k = 5)</a:t>
            </a:r>
          </a:p>
          <a:p>
            <a:pPr marL="647697" lvl="1" indent="-323848" algn="l">
              <a:lnSpc>
                <a:spcPts val="5639"/>
              </a:lnSpc>
              <a:buFont typeface="Arial"/>
              <a:buChar char="•"/>
            </a:pPr>
            <a:r>
              <a:rPr lang="en-US" sz="2999">
                <a:solidFill>
                  <a:srgbClr val="000000"/>
                </a:solidFill>
                <a:latin typeface="Vollkorn"/>
                <a:ea typeface="Vollkorn"/>
                <a:cs typeface="Vollkorn"/>
                <a:sym typeface="Vollkorn"/>
              </a:rPr>
              <a:t>Mean Squared Error (MSE): ~$1.80</a:t>
            </a:r>
          </a:p>
          <a:p>
            <a:pPr marL="647697" lvl="1" indent="-323848" algn="l">
              <a:lnSpc>
                <a:spcPts val="5639"/>
              </a:lnSpc>
              <a:buFont typeface="Arial"/>
              <a:buChar char="•"/>
            </a:pPr>
            <a:r>
              <a:rPr lang="en-US" sz="2999">
                <a:solidFill>
                  <a:srgbClr val="000000"/>
                </a:solidFill>
                <a:latin typeface="Vollkorn"/>
                <a:ea typeface="Vollkorn"/>
                <a:cs typeface="Vollkorn"/>
                <a:sym typeface="Vollkorn"/>
              </a:rPr>
              <a:t>Most predictions are within a couple dollars of actual tips</a:t>
            </a:r>
          </a:p>
          <a:p>
            <a:pPr marL="647697" lvl="1" indent="-323848" algn="l">
              <a:lnSpc>
                <a:spcPts val="5639"/>
              </a:lnSpc>
              <a:buFont typeface="Arial"/>
              <a:buChar char="•"/>
            </a:pPr>
            <a:r>
              <a:rPr lang="en-US" sz="2999">
                <a:solidFill>
                  <a:srgbClr val="000000"/>
                </a:solidFill>
                <a:latin typeface="Vollkorn"/>
                <a:ea typeface="Vollkorn"/>
                <a:cs typeface="Vollkorn"/>
                <a:sym typeface="Vollkorn"/>
              </a:rPr>
              <a:t>Performs best on typical trip patterns (short to moderate distance)</a:t>
            </a:r>
          </a:p>
        </p:txBody>
      </p:sp>
      <p:sp>
        <p:nvSpPr>
          <p:cNvPr id="22" name="TextBox 22"/>
          <p:cNvSpPr txBox="1"/>
          <p:nvPr/>
        </p:nvSpPr>
        <p:spPr>
          <a:xfrm>
            <a:off x="5500044" y="7534275"/>
            <a:ext cx="11380036" cy="1700558"/>
          </a:xfrm>
          <a:prstGeom prst="rect">
            <a:avLst/>
          </a:prstGeom>
        </p:spPr>
        <p:txBody>
          <a:bodyPr lIns="0" tIns="0" rIns="0" bIns="0" rtlCol="0" anchor="t">
            <a:spAutoFit/>
          </a:bodyPr>
          <a:lstStyle/>
          <a:p>
            <a:pPr algn="just">
              <a:lnSpc>
                <a:spcPts val="4551"/>
              </a:lnSpc>
            </a:pPr>
            <a:r>
              <a:rPr lang="en-US" sz="3139">
                <a:solidFill>
                  <a:srgbClr val="F7D3BC"/>
                </a:solidFill>
                <a:latin typeface="Vollkorn"/>
                <a:ea typeface="Vollkorn"/>
                <a:cs typeface="Vollkorn"/>
                <a:sym typeface="Vollkorn"/>
              </a:rPr>
              <a:t>k-NN offers a simple, transparent, and effective way to estimate tip amounts especially useful for operations, planning, or incentive strategy.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7463B"/>
        </a:solidFill>
        <a:effectLst/>
      </p:bgPr>
    </p:bg>
    <p:spTree>
      <p:nvGrpSpPr>
        <p:cNvPr id="1" name=""/>
        <p:cNvGrpSpPr/>
        <p:nvPr/>
      </p:nvGrpSpPr>
      <p:grpSpPr>
        <a:xfrm>
          <a:off x="0" y="0"/>
          <a:ext cx="0" cy="0"/>
          <a:chOff x="0" y="0"/>
          <a:chExt cx="0" cy="0"/>
        </a:xfrm>
      </p:grpSpPr>
      <p:sp>
        <p:nvSpPr>
          <p:cNvPr id="2" name="Freeform 2"/>
          <p:cNvSpPr/>
          <p:nvPr/>
        </p:nvSpPr>
        <p:spPr>
          <a:xfrm>
            <a:off x="19050" y="0"/>
            <a:ext cx="18226953" cy="10287000"/>
          </a:xfrm>
          <a:custGeom>
            <a:avLst/>
            <a:gdLst/>
            <a:ahLst/>
            <a:cxnLst/>
            <a:rect l="l" t="t" r="r" b="b"/>
            <a:pathLst>
              <a:path w="18226953" h="10287000">
                <a:moveTo>
                  <a:pt x="0" y="0"/>
                </a:moveTo>
                <a:lnTo>
                  <a:pt x="18226953" y="0"/>
                </a:lnTo>
                <a:lnTo>
                  <a:pt x="18226953" y="10287000"/>
                </a:lnTo>
                <a:lnTo>
                  <a:pt x="0" y="10287000"/>
                </a:lnTo>
                <a:lnTo>
                  <a:pt x="0" y="0"/>
                </a:lnTo>
                <a:close/>
              </a:path>
            </a:pathLst>
          </a:custGeom>
          <a:blipFill>
            <a:blip r:embed="rId3">
              <a:alphaModFix amt="5000"/>
            </a:blip>
            <a:stretch>
              <a:fillRect l="-1247" t="-54414" r="-2" b="-24982"/>
            </a:stretch>
          </a:blipFill>
        </p:spPr>
        <p:txBody>
          <a:bodyPr/>
          <a:lstStyle/>
          <a:p>
            <a:endParaRPr lang="en-US"/>
          </a:p>
        </p:txBody>
      </p:sp>
      <p:sp>
        <p:nvSpPr>
          <p:cNvPr id="3" name="Freeform 3"/>
          <p:cNvSpPr/>
          <p:nvPr/>
        </p:nvSpPr>
        <p:spPr>
          <a:xfrm>
            <a:off x="364006" y="3872266"/>
            <a:ext cx="9228512" cy="5834281"/>
          </a:xfrm>
          <a:custGeom>
            <a:avLst/>
            <a:gdLst/>
            <a:ahLst/>
            <a:cxnLst/>
            <a:rect l="l" t="t" r="r" b="b"/>
            <a:pathLst>
              <a:path w="9228512" h="5834281">
                <a:moveTo>
                  <a:pt x="0" y="0"/>
                </a:moveTo>
                <a:lnTo>
                  <a:pt x="9228512" y="0"/>
                </a:lnTo>
                <a:lnTo>
                  <a:pt x="9228512" y="5834281"/>
                </a:lnTo>
                <a:lnTo>
                  <a:pt x="0" y="5834281"/>
                </a:lnTo>
                <a:lnTo>
                  <a:pt x="0" y="0"/>
                </a:lnTo>
                <a:close/>
              </a:path>
            </a:pathLst>
          </a:custGeom>
          <a:blipFill>
            <a:blip r:embed="rId4"/>
            <a:stretch>
              <a:fillRect t="-1111" b="-1111"/>
            </a:stretch>
          </a:blipFill>
        </p:spPr>
        <p:txBody>
          <a:bodyPr/>
          <a:lstStyle/>
          <a:p>
            <a:endParaRPr lang="en-US"/>
          </a:p>
        </p:txBody>
      </p:sp>
      <p:grpSp>
        <p:nvGrpSpPr>
          <p:cNvPr id="4" name="Group 4"/>
          <p:cNvGrpSpPr/>
          <p:nvPr/>
        </p:nvGrpSpPr>
        <p:grpSpPr>
          <a:xfrm>
            <a:off x="3043776" y="3361790"/>
            <a:ext cx="3868972" cy="781252"/>
            <a:chOff x="0" y="0"/>
            <a:chExt cx="5158630" cy="1041670"/>
          </a:xfrm>
        </p:grpSpPr>
        <p:sp>
          <p:nvSpPr>
            <p:cNvPr id="5" name="Freeform 5"/>
            <p:cNvSpPr/>
            <p:nvPr/>
          </p:nvSpPr>
          <p:spPr>
            <a:xfrm>
              <a:off x="0" y="0"/>
              <a:ext cx="5158669" cy="1041654"/>
            </a:xfrm>
            <a:custGeom>
              <a:avLst/>
              <a:gdLst/>
              <a:ahLst/>
              <a:cxnLst/>
              <a:rect l="l" t="t" r="r" b="b"/>
              <a:pathLst>
                <a:path w="5158669" h="1041654">
                  <a:moveTo>
                    <a:pt x="0" y="0"/>
                  </a:moveTo>
                  <a:lnTo>
                    <a:pt x="5158669" y="0"/>
                  </a:lnTo>
                  <a:lnTo>
                    <a:pt x="5158669" y="1041654"/>
                  </a:lnTo>
                  <a:lnTo>
                    <a:pt x="0" y="1041654"/>
                  </a:lnTo>
                  <a:close/>
                </a:path>
              </a:pathLst>
            </a:custGeom>
            <a:solidFill>
              <a:srgbClr val="F8EAD4">
                <a:alpha val="63922"/>
              </a:srgbClr>
            </a:solidFill>
          </p:spPr>
          <p:txBody>
            <a:bodyPr/>
            <a:lstStyle/>
            <a:p>
              <a:endParaRPr lang="en-US"/>
            </a:p>
          </p:txBody>
        </p:sp>
      </p:grpSp>
      <p:sp>
        <p:nvSpPr>
          <p:cNvPr id="6" name="TextBox 6"/>
          <p:cNvSpPr txBox="1"/>
          <p:nvPr/>
        </p:nvSpPr>
        <p:spPr>
          <a:xfrm>
            <a:off x="2258727" y="562759"/>
            <a:ext cx="14068250" cy="567399"/>
          </a:xfrm>
          <a:prstGeom prst="rect">
            <a:avLst/>
          </a:prstGeom>
        </p:spPr>
        <p:txBody>
          <a:bodyPr wrap="square" lIns="0" tIns="0" rIns="0" bIns="0" rtlCol="0" anchor="t">
            <a:spAutoFit/>
          </a:bodyPr>
          <a:lstStyle/>
          <a:p>
            <a:pPr algn="ctr">
              <a:lnSpc>
                <a:spcPts val="4319"/>
              </a:lnSpc>
              <a:spcBef>
                <a:spcPct val="0"/>
              </a:spcBef>
            </a:pPr>
            <a:r>
              <a:rPr lang="en-US" sz="3999" b="1" dirty="0">
                <a:solidFill>
                  <a:srgbClr val="FCEBAB"/>
                </a:solidFill>
                <a:latin typeface="Vollkorn Bold"/>
                <a:ea typeface="Vollkorn Bold"/>
                <a:cs typeface="Vollkorn Bold"/>
                <a:sym typeface="Vollkorn Bold"/>
              </a:rPr>
              <a:t>NYC Taxi Tip Amount Prediction Analysis - KNN Model</a:t>
            </a:r>
          </a:p>
        </p:txBody>
      </p:sp>
      <p:sp>
        <p:nvSpPr>
          <p:cNvPr id="7" name="TextBox 7"/>
          <p:cNvSpPr txBox="1"/>
          <p:nvPr/>
        </p:nvSpPr>
        <p:spPr>
          <a:xfrm>
            <a:off x="773585" y="2011152"/>
            <a:ext cx="17038534" cy="1068808"/>
          </a:xfrm>
          <a:prstGeom prst="rect">
            <a:avLst/>
          </a:prstGeom>
        </p:spPr>
        <p:txBody>
          <a:bodyPr lIns="0" tIns="0" rIns="0" bIns="0" rtlCol="0" anchor="t">
            <a:spAutoFit/>
          </a:bodyPr>
          <a:lstStyle/>
          <a:p>
            <a:pPr algn="ctr">
              <a:lnSpc>
                <a:spcPts val="2842"/>
              </a:lnSpc>
            </a:pPr>
            <a:r>
              <a:rPr lang="en-US" sz="2631">
                <a:solidFill>
                  <a:srgbClr val="F8EAD4"/>
                </a:solidFill>
                <a:latin typeface="Vollkorn"/>
                <a:ea typeface="Vollkorn"/>
                <a:cs typeface="Vollkorn"/>
                <a:sym typeface="Vollkorn"/>
              </a:rPr>
              <a:t>This  plot visualizes how well our predictive model estimates tip amounts, using a K-Nearest Neighbors with k = 5.  Each blue dot represents a single trip, plotting the actual tip amount on the x-axis versus the predicted tip amount on the y-axis.</a:t>
            </a:r>
          </a:p>
        </p:txBody>
      </p:sp>
      <p:sp>
        <p:nvSpPr>
          <p:cNvPr id="8" name="TextBox 8"/>
          <p:cNvSpPr txBox="1"/>
          <p:nvPr/>
        </p:nvSpPr>
        <p:spPr>
          <a:xfrm>
            <a:off x="9935109" y="3453065"/>
            <a:ext cx="7877010" cy="6363821"/>
          </a:xfrm>
          <a:prstGeom prst="rect">
            <a:avLst/>
          </a:prstGeom>
        </p:spPr>
        <p:txBody>
          <a:bodyPr lIns="0" tIns="0" rIns="0" bIns="0" rtlCol="0" anchor="t">
            <a:spAutoFit/>
          </a:bodyPr>
          <a:lstStyle/>
          <a:p>
            <a:pPr algn="ctr">
              <a:lnSpc>
                <a:spcPts val="3714"/>
              </a:lnSpc>
            </a:pPr>
            <a:r>
              <a:rPr lang="en-US" sz="2902" b="1">
                <a:solidFill>
                  <a:srgbClr val="F7D3BC"/>
                </a:solidFill>
                <a:latin typeface="Vollkorn Semi-Bold"/>
                <a:ea typeface="Vollkorn Semi-Bold"/>
                <a:cs typeface="Vollkorn Semi-Bold"/>
                <a:sym typeface="Vollkorn Semi-Bold"/>
              </a:rPr>
              <a:t>Key Takeaways:</a:t>
            </a:r>
          </a:p>
          <a:p>
            <a:pPr algn="just">
              <a:lnSpc>
                <a:spcPts val="3458"/>
              </a:lnSpc>
            </a:pPr>
            <a:r>
              <a:rPr lang="en-US" sz="2702">
                <a:solidFill>
                  <a:srgbClr val="FFFFFF"/>
                </a:solidFill>
                <a:latin typeface="Vollkorn"/>
                <a:ea typeface="Vollkorn"/>
                <a:cs typeface="Vollkorn"/>
                <a:sym typeface="Vollkorn"/>
              </a:rPr>
              <a:t>Strong clustering near the red line indicates that the model is performing well for most common tip ranges (typically under $5).</a:t>
            </a:r>
          </a:p>
          <a:p>
            <a:pPr algn="just">
              <a:lnSpc>
                <a:spcPts val="3458"/>
              </a:lnSpc>
            </a:pPr>
            <a:r>
              <a:rPr lang="en-US" sz="2702">
                <a:solidFill>
                  <a:srgbClr val="FFFFFF"/>
                </a:solidFill>
                <a:latin typeface="Vollkorn"/>
                <a:ea typeface="Vollkorn"/>
                <a:cs typeface="Vollkorn"/>
                <a:sym typeface="Vollkorn"/>
              </a:rPr>
              <a:t>Overall trend is consistent, reinforcing that our model effectively captures the general tipping behavior.</a:t>
            </a:r>
          </a:p>
          <a:p>
            <a:pPr algn="ctr">
              <a:lnSpc>
                <a:spcPts val="3202"/>
              </a:lnSpc>
            </a:pPr>
            <a:endParaRPr lang="en-US" sz="2702">
              <a:solidFill>
                <a:srgbClr val="FFFFFF"/>
              </a:solidFill>
              <a:latin typeface="Vollkorn"/>
              <a:ea typeface="Vollkorn"/>
              <a:cs typeface="Vollkorn"/>
              <a:sym typeface="Vollkorn"/>
            </a:endParaRPr>
          </a:p>
          <a:p>
            <a:pPr algn="ctr">
              <a:lnSpc>
                <a:spcPts val="3714"/>
              </a:lnSpc>
            </a:pPr>
            <a:r>
              <a:rPr lang="en-US" sz="2902" b="1">
                <a:solidFill>
                  <a:srgbClr val="F7D3BC"/>
                </a:solidFill>
                <a:latin typeface="Vollkorn Semi-Bold"/>
                <a:ea typeface="Vollkorn Semi-Bold"/>
                <a:cs typeface="Vollkorn Semi-Bold"/>
                <a:sym typeface="Vollkorn Semi-Bold"/>
              </a:rPr>
              <a:t>Why Does This Matter?</a:t>
            </a:r>
          </a:p>
          <a:p>
            <a:pPr algn="just">
              <a:lnSpc>
                <a:spcPts val="3202"/>
              </a:lnSpc>
            </a:pPr>
            <a:r>
              <a:rPr lang="en-US" sz="2502" b="1">
                <a:solidFill>
                  <a:srgbClr val="FFFFFF"/>
                </a:solidFill>
                <a:latin typeface="Vollkorn Semi-Bold"/>
                <a:ea typeface="Vollkorn Semi-Bold"/>
                <a:cs typeface="Vollkorn Semi-Bold"/>
                <a:sym typeface="Vollkorn Semi-Bold"/>
              </a:rPr>
              <a:t>Well, if we can predict tips more accurately, we’re opening the door for stuff like personalized incentives for drivers, better customer recommendations, or even fine-tuning service strategies to boost those tips! It’s all about smart predictions leading to happy customers and better service!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46777"/>
        </a:solidFill>
        <a:effectLst/>
      </p:bgPr>
    </p:bg>
    <p:spTree>
      <p:nvGrpSpPr>
        <p:cNvPr id="1" name=""/>
        <p:cNvGrpSpPr/>
        <p:nvPr/>
      </p:nvGrpSpPr>
      <p:grpSpPr>
        <a:xfrm>
          <a:off x="0" y="0"/>
          <a:ext cx="0" cy="0"/>
          <a:chOff x="0" y="0"/>
          <a:chExt cx="0" cy="0"/>
        </a:xfrm>
      </p:grpSpPr>
      <p:sp>
        <p:nvSpPr>
          <p:cNvPr id="2" name="Freeform 2"/>
          <p:cNvSpPr/>
          <p:nvPr/>
        </p:nvSpPr>
        <p:spPr>
          <a:xfrm rot="-10800000" flipV="1">
            <a:off x="0" y="0"/>
            <a:ext cx="18288012" cy="10287000"/>
          </a:xfrm>
          <a:custGeom>
            <a:avLst/>
            <a:gdLst/>
            <a:ahLst/>
            <a:cxnLst/>
            <a:rect l="l" t="t" r="r" b="b"/>
            <a:pathLst>
              <a:path w="18288012" h="10287000">
                <a:moveTo>
                  <a:pt x="0" y="10287000"/>
                </a:moveTo>
                <a:lnTo>
                  <a:pt x="18288012" y="10287000"/>
                </a:lnTo>
                <a:lnTo>
                  <a:pt x="18288012" y="0"/>
                </a:lnTo>
                <a:lnTo>
                  <a:pt x="0" y="0"/>
                </a:lnTo>
                <a:lnTo>
                  <a:pt x="0" y="10287000"/>
                </a:lnTo>
                <a:close/>
              </a:path>
            </a:pathLst>
          </a:custGeom>
          <a:blipFill>
            <a:blip r:embed="rId3">
              <a:alphaModFix amt="5000"/>
            </a:blip>
            <a:stretch>
              <a:fillRect l="-3745" r="-2271" b="-12704"/>
            </a:stretch>
          </a:blipFill>
        </p:spPr>
        <p:txBody>
          <a:bodyPr/>
          <a:lstStyle/>
          <a:p>
            <a:endParaRPr lang="en-US"/>
          </a:p>
        </p:txBody>
      </p:sp>
      <p:sp>
        <p:nvSpPr>
          <p:cNvPr id="3" name="TextBox 3"/>
          <p:cNvSpPr txBox="1"/>
          <p:nvPr/>
        </p:nvSpPr>
        <p:spPr>
          <a:xfrm>
            <a:off x="2200449" y="467691"/>
            <a:ext cx="14296850" cy="567399"/>
          </a:xfrm>
          <a:prstGeom prst="rect">
            <a:avLst/>
          </a:prstGeom>
        </p:spPr>
        <p:txBody>
          <a:bodyPr wrap="square" lIns="0" tIns="0" rIns="0" bIns="0" rtlCol="0" anchor="t">
            <a:spAutoFit/>
          </a:bodyPr>
          <a:lstStyle/>
          <a:p>
            <a:pPr algn="ctr">
              <a:lnSpc>
                <a:spcPts val="4319"/>
              </a:lnSpc>
              <a:spcBef>
                <a:spcPct val="0"/>
              </a:spcBef>
            </a:pPr>
            <a:r>
              <a:rPr lang="en-US" sz="3999" b="1" dirty="0">
                <a:solidFill>
                  <a:srgbClr val="FCEBAB"/>
                </a:solidFill>
                <a:latin typeface="Vollkorn Bold"/>
                <a:ea typeface="Vollkorn Bold"/>
                <a:cs typeface="Vollkorn Bold"/>
                <a:sym typeface="Vollkorn Bold"/>
              </a:rPr>
              <a:t>NYC Taxi Tip Amount Prediction Analysis - KNN Model</a:t>
            </a:r>
          </a:p>
        </p:txBody>
      </p:sp>
      <p:sp>
        <p:nvSpPr>
          <p:cNvPr id="4" name="TextBox 4"/>
          <p:cNvSpPr txBox="1"/>
          <p:nvPr/>
        </p:nvSpPr>
        <p:spPr>
          <a:xfrm>
            <a:off x="1438449" y="1437180"/>
            <a:ext cx="15820851" cy="747164"/>
          </a:xfrm>
          <a:prstGeom prst="rect">
            <a:avLst/>
          </a:prstGeom>
        </p:spPr>
        <p:txBody>
          <a:bodyPr lIns="0" tIns="0" rIns="0" bIns="0" rtlCol="0" anchor="t">
            <a:spAutoFit/>
          </a:bodyPr>
          <a:lstStyle/>
          <a:p>
            <a:pPr algn="ctr">
              <a:lnSpc>
                <a:spcPts val="2998"/>
              </a:lnSpc>
              <a:spcBef>
                <a:spcPct val="0"/>
              </a:spcBef>
            </a:pPr>
            <a:r>
              <a:rPr lang="en-US" sz="2776">
                <a:solidFill>
                  <a:srgbClr val="FFFFFF"/>
                </a:solidFill>
                <a:latin typeface="Vollkorn"/>
                <a:ea typeface="Vollkorn"/>
                <a:cs typeface="Vollkorn"/>
                <a:sym typeface="Vollkorn"/>
              </a:rPr>
              <a:t>This histogram shows the residuals—the difference between our predicted tip values and the actual values. Essentially, it tells us whether we’re hitting the mark or missing it!</a:t>
            </a:r>
          </a:p>
        </p:txBody>
      </p:sp>
      <p:sp>
        <p:nvSpPr>
          <p:cNvPr id="5" name="Freeform 5"/>
          <p:cNvSpPr/>
          <p:nvPr/>
        </p:nvSpPr>
        <p:spPr>
          <a:xfrm>
            <a:off x="298338" y="3505534"/>
            <a:ext cx="8532125" cy="5891294"/>
          </a:xfrm>
          <a:custGeom>
            <a:avLst/>
            <a:gdLst/>
            <a:ahLst/>
            <a:cxnLst/>
            <a:rect l="l" t="t" r="r" b="b"/>
            <a:pathLst>
              <a:path w="8532125" h="5891294">
                <a:moveTo>
                  <a:pt x="0" y="0"/>
                </a:moveTo>
                <a:lnTo>
                  <a:pt x="8532126" y="0"/>
                </a:lnTo>
                <a:lnTo>
                  <a:pt x="8532126" y="5891294"/>
                </a:lnTo>
                <a:lnTo>
                  <a:pt x="0" y="5891294"/>
                </a:lnTo>
                <a:lnTo>
                  <a:pt x="0" y="0"/>
                </a:lnTo>
                <a:close/>
              </a:path>
            </a:pathLst>
          </a:custGeom>
          <a:blipFill>
            <a:blip r:embed="rId4"/>
            <a:stretch>
              <a:fillRect t="-1768" b="-1600"/>
            </a:stretch>
          </a:blipFill>
        </p:spPr>
        <p:txBody>
          <a:bodyPr/>
          <a:lstStyle/>
          <a:p>
            <a:endParaRPr lang="en-US"/>
          </a:p>
        </p:txBody>
      </p:sp>
      <p:grpSp>
        <p:nvGrpSpPr>
          <p:cNvPr id="6" name="Group 6"/>
          <p:cNvGrpSpPr/>
          <p:nvPr/>
        </p:nvGrpSpPr>
        <p:grpSpPr>
          <a:xfrm>
            <a:off x="3253755" y="3094716"/>
            <a:ext cx="3201699" cy="821636"/>
            <a:chOff x="0" y="0"/>
            <a:chExt cx="5158630" cy="1323833"/>
          </a:xfrm>
        </p:grpSpPr>
        <p:sp>
          <p:nvSpPr>
            <p:cNvPr id="7" name="Freeform 7"/>
            <p:cNvSpPr/>
            <p:nvPr/>
          </p:nvSpPr>
          <p:spPr>
            <a:xfrm>
              <a:off x="0" y="0"/>
              <a:ext cx="5158669" cy="1323813"/>
            </a:xfrm>
            <a:custGeom>
              <a:avLst/>
              <a:gdLst/>
              <a:ahLst/>
              <a:cxnLst/>
              <a:rect l="l" t="t" r="r" b="b"/>
              <a:pathLst>
                <a:path w="5158669" h="1323813">
                  <a:moveTo>
                    <a:pt x="0" y="0"/>
                  </a:moveTo>
                  <a:lnTo>
                    <a:pt x="5158669" y="0"/>
                  </a:lnTo>
                  <a:lnTo>
                    <a:pt x="5158669" y="1323813"/>
                  </a:lnTo>
                  <a:lnTo>
                    <a:pt x="0" y="1323813"/>
                  </a:lnTo>
                  <a:close/>
                </a:path>
              </a:pathLst>
            </a:custGeom>
            <a:solidFill>
              <a:srgbClr val="F8EAD4">
                <a:alpha val="63922"/>
              </a:srgbClr>
            </a:solidFill>
          </p:spPr>
          <p:txBody>
            <a:bodyPr/>
            <a:lstStyle/>
            <a:p>
              <a:endParaRPr lang="en-US"/>
            </a:p>
          </p:txBody>
        </p:sp>
      </p:grpSp>
      <p:sp>
        <p:nvSpPr>
          <p:cNvPr id="8" name="TextBox 8"/>
          <p:cNvSpPr txBox="1"/>
          <p:nvPr/>
        </p:nvSpPr>
        <p:spPr>
          <a:xfrm>
            <a:off x="9143994" y="2586434"/>
            <a:ext cx="8557675" cy="7347251"/>
          </a:xfrm>
          <a:prstGeom prst="rect">
            <a:avLst/>
          </a:prstGeom>
        </p:spPr>
        <p:txBody>
          <a:bodyPr lIns="0" tIns="0" rIns="0" bIns="0" rtlCol="0" anchor="t">
            <a:spAutoFit/>
          </a:bodyPr>
          <a:lstStyle/>
          <a:p>
            <a:pPr algn="ctr">
              <a:lnSpc>
                <a:spcPts val="3108"/>
              </a:lnSpc>
              <a:spcBef>
                <a:spcPct val="0"/>
              </a:spcBef>
            </a:pPr>
            <a:r>
              <a:rPr lang="en-US" sz="2878" b="1">
                <a:solidFill>
                  <a:srgbClr val="F7D3BC"/>
                </a:solidFill>
                <a:latin typeface="Vollkorn Bold"/>
                <a:ea typeface="Vollkorn Bold"/>
                <a:cs typeface="Vollkorn Bold"/>
                <a:sym typeface="Vollkorn Bold"/>
              </a:rPr>
              <a:t>Why This Matters?</a:t>
            </a:r>
          </a:p>
          <a:p>
            <a:pPr algn="ctr">
              <a:lnSpc>
                <a:spcPts val="3108"/>
              </a:lnSpc>
              <a:spcBef>
                <a:spcPct val="0"/>
              </a:spcBef>
            </a:pPr>
            <a:endParaRPr lang="en-US" sz="2878" b="1">
              <a:solidFill>
                <a:srgbClr val="F7D3BC"/>
              </a:solidFill>
              <a:latin typeface="Vollkorn Bold"/>
              <a:ea typeface="Vollkorn Bold"/>
              <a:cs typeface="Vollkorn Bold"/>
              <a:sym typeface="Vollkorn Bold"/>
            </a:endParaRPr>
          </a:p>
          <a:p>
            <a:pPr algn="just">
              <a:lnSpc>
                <a:spcPts val="3108"/>
              </a:lnSpc>
              <a:spcBef>
                <a:spcPct val="0"/>
              </a:spcBef>
            </a:pPr>
            <a:r>
              <a:rPr lang="en-US" sz="2878" spc="-120">
                <a:solidFill>
                  <a:srgbClr val="FFFFFF"/>
                </a:solidFill>
                <a:latin typeface="Vollkorn"/>
                <a:ea typeface="Vollkorn"/>
                <a:cs typeface="Vollkorn"/>
                <a:sym typeface="Vollkorn"/>
              </a:rPr>
              <a:t>Residuals are like the feedback our model gives us. A narrow peak around zero indicates that most predictions are pretty spot-on, which means we can trust the model to make accurate tip predictions in most cases. </a:t>
            </a:r>
          </a:p>
          <a:p>
            <a:pPr algn="ctr">
              <a:lnSpc>
                <a:spcPts val="2784"/>
              </a:lnSpc>
              <a:spcBef>
                <a:spcPct val="0"/>
              </a:spcBef>
            </a:pPr>
            <a:endParaRPr lang="en-US" sz="2878" spc="-120">
              <a:solidFill>
                <a:srgbClr val="FFFFFF"/>
              </a:solidFill>
              <a:latin typeface="Vollkorn"/>
              <a:ea typeface="Vollkorn"/>
              <a:cs typeface="Vollkorn"/>
              <a:sym typeface="Vollkorn"/>
            </a:endParaRPr>
          </a:p>
          <a:p>
            <a:pPr algn="ctr">
              <a:lnSpc>
                <a:spcPts val="3000"/>
              </a:lnSpc>
              <a:spcBef>
                <a:spcPct val="0"/>
              </a:spcBef>
            </a:pPr>
            <a:r>
              <a:rPr lang="en-US" sz="2778" b="1">
                <a:solidFill>
                  <a:srgbClr val="F7D3BC"/>
                </a:solidFill>
                <a:latin typeface="Vollkorn Bold"/>
                <a:ea typeface="Vollkorn Bold"/>
                <a:cs typeface="Vollkorn Bold"/>
                <a:sym typeface="Vollkorn Bold"/>
              </a:rPr>
              <a:t>What does this mean for us?</a:t>
            </a:r>
          </a:p>
          <a:p>
            <a:pPr algn="ctr">
              <a:lnSpc>
                <a:spcPts val="2784"/>
              </a:lnSpc>
              <a:spcBef>
                <a:spcPct val="0"/>
              </a:spcBef>
            </a:pPr>
            <a:endParaRPr lang="en-US" sz="2778" b="1">
              <a:solidFill>
                <a:srgbClr val="F7D3BC"/>
              </a:solidFill>
              <a:latin typeface="Vollkorn Bold"/>
              <a:ea typeface="Vollkorn Bold"/>
              <a:cs typeface="Vollkorn Bold"/>
              <a:sym typeface="Vollkorn Bold"/>
            </a:endParaRPr>
          </a:p>
          <a:p>
            <a:pPr algn="just">
              <a:lnSpc>
                <a:spcPts val="2784"/>
              </a:lnSpc>
              <a:spcBef>
                <a:spcPct val="0"/>
              </a:spcBef>
            </a:pPr>
            <a:r>
              <a:rPr lang="en-US" sz="2578">
                <a:solidFill>
                  <a:srgbClr val="FFFFFF"/>
                </a:solidFill>
                <a:latin typeface="Vollkorn"/>
                <a:ea typeface="Vollkorn"/>
                <a:cs typeface="Vollkorn"/>
                <a:sym typeface="Vollkorn"/>
              </a:rPr>
              <a:t>This means our model is highly reliable for applications where predicting tipping behavior accurately is key. Whether it's improving service strategies or optimizing pricing, this level of accuracy means our model can make smarter, data-driven decisions!</a:t>
            </a:r>
          </a:p>
          <a:p>
            <a:pPr algn="ctr">
              <a:lnSpc>
                <a:spcPts val="2784"/>
              </a:lnSpc>
              <a:spcBef>
                <a:spcPct val="0"/>
              </a:spcBef>
            </a:pPr>
            <a:endParaRPr lang="en-US" sz="2578">
              <a:solidFill>
                <a:srgbClr val="FFFFFF"/>
              </a:solidFill>
              <a:latin typeface="Vollkorn"/>
              <a:ea typeface="Vollkorn"/>
              <a:cs typeface="Vollkorn"/>
              <a:sym typeface="Vollkorn"/>
            </a:endParaRPr>
          </a:p>
          <a:p>
            <a:pPr algn="ctr">
              <a:lnSpc>
                <a:spcPts val="3000"/>
              </a:lnSpc>
              <a:spcBef>
                <a:spcPct val="0"/>
              </a:spcBef>
            </a:pPr>
            <a:r>
              <a:rPr lang="en-US" sz="2778" b="1">
                <a:solidFill>
                  <a:srgbClr val="F7D3BC"/>
                </a:solidFill>
                <a:latin typeface="Vollkorn Bold"/>
                <a:ea typeface="Vollkorn Bold"/>
                <a:cs typeface="Vollkorn Bold"/>
                <a:sym typeface="Vollkorn Bold"/>
              </a:rPr>
              <a:t>What We Can Do Next?</a:t>
            </a:r>
          </a:p>
          <a:p>
            <a:pPr algn="ctr">
              <a:lnSpc>
                <a:spcPts val="2784"/>
              </a:lnSpc>
              <a:spcBef>
                <a:spcPct val="0"/>
              </a:spcBef>
            </a:pPr>
            <a:endParaRPr lang="en-US" sz="2778" b="1">
              <a:solidFill>
                <a:srgbClr val="F7D3BC"/>
              </a:solidFill>
              <a:latin typeface="Vollkorn Bold"/>
              <a:ea typeface="Vollkorn Bold"/>
              <a:cs typeface="Vollkorn Bold"/>
              <a:sym typeface="Vollkorn Bold"/>
            </a:endParaRPr>
          </a:p>
          <a:p>
            <a:pPr algn="just">
              <a:lnSpc>
                <a:spcPts val="2784"/>
              </a:lnSpc>
              <a:spcBef>
                <a:spcPct val="0"/>
              </a:spcBef>
            </a:pPr>
            <a:r>
              <a:rPr lang="en-US" sz="2578">
                <a:solidFill>
                  <a:srgbClr val="FFFFFF"/>
                </a:solidFill>
                <a:latin typeface="Vollkorn"/>
                <a:ea typeface="Vollkorn"/>
                <a:cs typeface="Vollkorn"/>
                <a:sym typeface="Vollkorn"/>
              </a:rPr>
              <a:t>While the model is already effective, improving the small errors will make it even more accurate. </a:t>
            </a:r>
          </a:p>
          <a:p>
            <a:pPr algn="just">
              <a:lnSpc>
                <a:spcPts val="2784"/>
              </a:lnSpc>
              <a:spcBef>
                <a:spcPct val="0"/>
              </a:spcBef>
            </a:pPr>
            <a:endParaRPr lang="en-US" sz="2578">
              <a:solidFill>
                <a:srgbClr val="FFFFFF"/>
              </a:solidFill>
              <a:latin typeface="Vollkorn"/>
              <a:ea typeface="Vollkorn"/>
              <a:cs typeface="Vollkorn"/>
              <a:sym typeface="Vollkor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8000"/>
            </a:blip>
            <a:stretch>
              <a:fillRect t="-76328" b="-1448"/>
            </a:stretch>
          </a:blipFill>
        </p:spPr>
        <p:txBody>
          <a:bodyPr/>
          <a:lstStyle/>
          <a:p>
            <a:endParaRPr lang="en-US"/>
          </a:p>
        </p:txBody>
      </p:sp>
      <p:grpSp>
        <p:nvGrpSpPr>
          <p:cNvPr id="3" name="Group 3"/>
          <p:cNvGrpSpPr/>
          <p:nvPr/>
        </p:nvGrpSpPr>
        <p:grpSpPr>
          <a:xfrm>
            <a:off x="399772" y="399774"/>
            <a:ext cx="17488455" cy="9487450"/>
            <a:chOff x="0" y="0"/>
            <a:chExt cx="23317940" cy="12649934"/>
          </a:xfrm>
        </p:grpSpPr>
        <p:sp>
          <p:nvSpPr>
            <p:cNvPr id="4" name="Freeform 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446777"/>
            </a:solidFill>
          </p:spPr>
          <p:txBody>
            <a:bodyPr/>
            <a:lstStyle/>
            <a:p>
              <a:endParaRPr lang="en-US"/>
            </a:p>
          </p:txBody>
        </p:sp>
      </p:grpSp>
      <p:grpSp>
        <p:nvGrpSpPr>
          <p:cNvPr id="5" name="Group 5"/>
          <p:cNvGrpSpPr/>
          <p:nvPr/>
        </p:nvGrpSpPr>
        <p:grpSpPr>
          <a:xfrm>
            <a:off x="1028700" y="4435056"/>
            <a:ext cx="16230600" cy="1530450"/>
            <a:chOff x="0" y="0"/>
            <a:chExt cx="21640800" cy="2040600"/>
          </a:xfrm>
        </p:grpSpPr>
        <p:sp>
          <p:nvSpPr>
            <p:cNvPr id="6" name="Freeform 6"/>
            <p:cNvSpPr/>
            <p:nvPr/>
          </p:nvSpPr>
          <p:spPr>
            <a:xfrm>
              <a:off x="0" y="0"/>
              <a:ext cx="21640800" cy="2040600"/>
            </a:xfrm>
            <a:custGeom>
              <a:avLst/>
              <a:gdLst/>
              <a:ahLst/>
              <a:cxnLst/>
              <a:rect l="l" t="t" r="r" b="b"/>
              <a:pathLst>
                <a:path w="21640800" h="2040600">
                  <a:moveTo>
                    <a:pt x="0" y="0"/>
                  </a:moveTo>
                  <a:lnTo>
                    <a:pt x="21640800" y="0"/>
                  </a:lnTo>
                  <a:lnTo>
                    <a:pt x="21640800" y="2040600"/>
                  </a:lnTo>
                  <a:lnTo>
                    <a:pt x="0" y="2040600"/>
                  </a:lnTo>
                  <a:close/>
                </a:path>
              </a:pathLst>
            </a:custGeom>
            <a:solidFill>
              <a:srgbClr val="000000">
                <a:alpha val="0"/>
              </a:srgbClr>
            </a:solidFill>
          </p:spPr>
          <p:txBody>
            <a:bodyPr/>
            <a:lstStyle/>
            <a:p>
              <a:endParaRPr lang="en-US"/>
            </a:p>
          </p:txBody>
        </p:sp>
        <p:sp>
          <p:nvSpPr>
            <p:cNvPr id="7" name="TextBox 7"/>
            <p:cNvSpPr txBox="1"/>
            <p:nvPr/>
          </p:nvSpPr>
          <p:spPr>
            <a:xfrm>
              <a:off x="0" y="76200"/>
              <a:ext cx="21640800" cy="1964400"/>
            </a:xfrm>
            <a:prstGeom prst="rect">
              <a:avLst/>
            </a:prstGeom>
          </p:spPr>
          <p:txBody>
            <a:bodyPr lIns="0" tIns="0" rIns="0" bIns="0" rtlCol="0" anchor="t"/>
            <a:lstStyle/>
            <a:p>
              <a:pPr algn="ctr">
                <a:lnSpc>
                  <a:spcPts val="7235"/>
                </a:lnSpc>
              </a:pPr>
              <a:r>
                <a:rPr lang="en-US" sz="6699" b="1" spc="662">
                  <a:solidFill>
                    <a:srgbClr val="446777"/>
                  </a:solidFill>
                  <a:latin typeface="Vollkorn Bold"/>
                  <a:ea typeface="Vollkorn Bold"/>
                  <a:cs typeface="Vollkorn Bold"/>
                  <a:sym typeface="Vollkorn Bold"/>
                </a:rPr>
                <a:t>CRISP-DM:  Evaluation</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84A8B9"/>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7999"/>
            </a:blip>
            <a:stretch>
              <a:fillRect t="-76328" b="-1448"/>
            </a:stretch>
          </a:blipFill>
        </p:spPr>
        <p:txBody>
          <a:bodyPr/>
          <a:lstStyle/>
          <a:p>
            <a:endParaRPr lang="en-US"/>
          </a:p>
        </p:txBody>
      </p:sp>
      <p:grpSp>
        <p:nvGrpSpPr>
          <p:cNvPr id="3" name="Group 3"/>
          <p:cNvGrpSpPr/>
          <p:nvPr/>
        </p:nvGrpSpPr>
        <p:grpSpPr>
          <a:xfrm>
            <a:off x="692289" y="1372227"/>
            <a:ext cx="16903423" cy="2467787"/>
            <a:chOff x="0" y="0"/>
            <a:chExt cx="22537897" cy="3290383"/>
          </a:xfrm>
        </p:grpSpPr>
        <p:sp>
          <p:nvSpPr>
            <p:cNvPr id="4" name="Freeform 4"/>
            <p:cNvSpPr/>
            <p:nvPr/>
          </p:nvSpPr>
          <p:spPr>
            <a:xfrm>
              <a:off x="0" y="0"/>
              <a:ext cx="22537897" cy="3290383"/>
            </a:xfrm>
            <a:custGeom>
              <a:avLst/>
              <a:gdLst/>
              <a:ahLst/>
              <a:cxnLst/>
              <a:rect l="l" t="t" r="r" b="b"/>
              <a:pathLst>
                <a:path w="22537897" h="3290383">
                  <a:moveTo>
                    <a:pt x="0" y="0"/>
                  </a:moveTo>
                  <a:lnTo>
                    <a:pt x="22537897" y="0"/>
                  </a:lnTo>
                  <a:lnTo>
                    <a:pt x="22537897" y="3290383"/>
                  </a:lnTo>
                  <a:lnTo>
                    <a:pt x="0" y="3290383"/>
                  </a:lnTo>
                  <a:close/>
                </a:path>
              </a:pathLst>
            </a:custGeom>
            <a:solidFill>
              <a:srgbClr val="000000">
                <a:alpha val="0"/>
              </a:srgbClr>
            </a:solidFill>
          </p:spPr>
          <p:txBody>
            <a:bodyPr/>
            <a:lstStyle/>
            <a:p>
              <a:endParaRPr lang="en-US"/>
            </a:p>
          </p:txBody>
        </p:sp>
        <p:sp>
          <p:nvSpPr>
            <p:cNvPr id="5" name="TextBox 5"/>
            <p:cNvSpPr txBox="1"/>
            <p:nvPr/>
          </p:nvSpPr>
          <p:spPr>
            <a:xfrm>
              <a:off x="0" y="9525"/>
              <a:ext cx="22537897" cy="3280858"/>
            </a:xfrm>
            <a:prstGeom prst="rect">
              <a:avLst/>
            </a:prstGeom>
          </p:spPr>
          <p:txBody>
            <a:bodyPr lIns="0" tIns="0" rIns="0" bIns="0" rtlCol="0" anchor="t"/>
            <a:lstStyle/>
            <a:p>
              <a:pPr algn="l">
                <a:lnSpc>
                  <a:spcPts val="3077"/>
                </a:lnSpc>
              </a:pPr>
              <a:r>
                <a:rPr lang="en-US" sz="2699" b="1">
                  <a:solidFill>
                    <a:srgbClr val="F8EAD4"/>
                  </a:solidFill>
                  <a:latin typeface="Vollkorn Bold"/>
                  <a:ea typeface="Vollkorn Bold"/>
                  <a:cs typeface="Vollkorn Bold"/>
                  <a:sym typeface="Vollkorn Bold"/>
                </a:rPr>
                <a:t>Model Assessment :</a:t>
              </a:r>
              <a:r>
                <a:rPr lang="en-US" sz="2699">
                  <a:solidFill>
                    <a:srgbClr val="F8EAD4"/>
                  </a:solidFill>
                  <a:latin typeface="Vollkorn"/>
                  <a:ea typeface="Vollkorn"/>
                  <a:cs typeface="Vollkorn"/>
                  <a:sym typeface="Vollkorn"/>
                </a:rPr>
                <a:t> </a:t>
              </a:r>
              <a:r>
                <a:rPr lang="en-US" sz="2699">
                  <a:solidFill>
                    <a:srgbClr val="37463B"/>
                  </a:solidFill>
                  <a:latin typeface="Vollkorn"/>
                  <a:ea typeface="Vollkorn"/>
                  <a:cs typeface="Vollkorn"/>
                  <a:sym typeface="Vollkorn"/>
                </a:rPr>
                <a:t>Tested 20 different k values using knn.predict() and evaluated each with MSE to measure prediction accuracy.</a:t>
              </a:r>
            </a:p>
            <a:p>
              <a:pPr algn="l">
                <a:lnSpc>
                  <a:spcPts val="3191"/>
                </a:lnSpc>
              </a:pPr>
              <a:endParaRPr lang="en-US" sz="2699">
                <a:solidFill>
                  <a:srgbClr val="37463B"/>
                </a:solidFill>
                <a:latin typeface="Vollkorn"/>
                <a:ea typeface="Vollkorn"/>
                <a:cs typeface="Vollkorn"/>
                <a:sym typeface="Vollkorn"/>
              </a:endParaRPr>
            </a:p>
            <a:p>
              <a:pPr algn="l">
                <a:lnSpc>
                  <a:spcPts val="3077"/>
                </a:lnSpc>
              </a:pPr>
              <a:r>
                <a:rPr lang="en-US" sz="2699" b="1">
                  <a:solidFill>
                    <a:srgbClr val="F8EAD4"/>
                  </a:solidFill>
                  <a:latin typeface="Vollkorn Bold"/>
                  <a:ea typeface="Vollkorn Bold"/>
                  <a:cs typeface="Vollkorn Bold"/>
                  <a:sym typeface="Vollkorn Bold"/>
                </a:rPr>
                <a:t>Model Selection :</a:t>
              </a:r>
              <a:r>
                <a:rPr lang="en-US" sz="2699">
                  <a:solidFill>
                    <a:srgbClr val="F8EAD4"/>
                  </a:solidFill>
                  <a:latin typeface="Vollkorn"/>
                  <a:ea typeface="Vollkorn"/>
                  <a:cs typeface="Vollkorn"/>
                  <a:sym typeface="Vollkorn"/>
                </a:rPr>
                <a:t> </a:t>
              </a:r>
              <a:r>
                <a:rPr lang="en-US" sz="2699">
                  <a:solidFill>
                    <a:srgbClr val="37463B"/>
                  </a:solidFill>
                  <a:latin typeface="Vollkorn"/>
                  <a:ea typeface="Vollkorn"/>
                  <a:cs typeface="Vollkorn"/>
                  <a:sym typeface="Vollkorn"/>
                </a:rPr>
                <a:t>Lowest MSE (~0.781) observed at k = 3, making it the most optimal. Higher k values led to increased error.</a:t>
              </a:r>
            </a:p>
            <a:p>
              <a:pPr algn="l">
                <a:lnSpc>
                  <a:spcPts val="2699"/>
                </a:lnSpc>
              </a:pPr>
              <a:endParaRPr lang="en-US" sz="2699">
                <a:solidFill>
                  <a:srgbClr val="37463B"/>
                </a:solidFill>
                <a:latin typeface="Vollkorn"/>
                <a:ea typeface="Vollkorn"/>
                <a:cs typeface="Vollkorn"/>
                <a:sym typeface="Vollkorn"/>
              </a:endParaRPr>
            </a:p>
          </p:txBody>
        </p:sp>
      </p:grpSp>
      <p:sp>
        <p:nvSpPr>
          <p:cNvPr id="6" name="Freeform 6"/>
          <p:cNvSpPr/>
          <p:nvPr/>
        </p:nvSpPr>
        <p:spPr>
          <a:xfrm>
            <a:off x="257153" y="4046780"/>
            <a:ext cx="8067486" cy="5748931"/>
          </a:xfrm>
          <a:custGeom>
            <a:avLst/>
            <a:gdLst/>
            <a:ahLst/>
            <a:cxnLst/>
            <a:rect l="l" t="t" r="r" b="b"/>
            <a:pathLst>
              <a:path w="8067486" h="5748931">
                <a:moveTo>
                  <a:pt x="0" y="0"/>
                </a:moveTo>
                <a:lnTo>
                  <a:pt x="8067486" y="0"/>
                </a:lnTo>
                <a:lnTo>
                  <a:pt x="8067486" y="5748931"/>
                </a:lnTo>
                <a:lnTo>
                  <a:pt x="0" y="5748931"/>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3587394" y="3442480"/>
            <a:ext cx="3243519" cy="795067"/>
            <a:chOff x="0" y="0"/>
            <a:chExt cx="4324692" cy="1060090"/>
          </a:xfrm>
        </p:grpSpPr>
        <p:sp>
          <p:nvSpPr>
            <p:cNvPr id="8" name="Freeform 8"/>
            <p:cNvSpPr/>
            <p:nvPr/>
          </p:nvSpPr>
          <p:spPr>
            <a:xfrm>
              <a:off x="0" y="0"/>
              <a:ext cx="4324731" cy="1060069"/>
            </a:xfrm>
            <a:custGeom>
              <a:avLst/>
              <a:gdLst/>
              <a:ahLst/>
              <a:cxnLst/>
              <a:rect l="l" t="t" r="r" b="b"/>
              <a:pathLst>
                <a:path w="4324731" h="1060069">
                  <a:moveTo>
                    <a:pt x="0" y="0"/>
                  </a:moveTo>
                  <a:lnTo>
                    <a:pt x="4324731" y="0"/>
                  </a:lnTo>
                  <a:lnTo>
                    <a:pt x="4324731" y="1060069"/>
                  </a:lnTo>
                  <a:lnTo>
                    <a:pt x="0" y="1060069"/>
                  </a:lnTo>
                  <a:close/>
                </a:path>
              </a:pathLst>
            </a:custGeom>
            <a:solidFill>
              <a:srgbClr val="F8EAD4">
                <a:alpha val="63922"/>
              </a:srgbClr>
            </a:solidFill>
          </p:spPr>
          <p:txBody>
            <a:bodyPr/>
            <a:lstStyle/>
            <a:p>
              <a:endParaRPr lang="en-US"/>
            </a:p>
          </p:txBody>
        </p:sp>
      </p:grpSp>
      <p:sp>
        <p:nvSpPr>
          <p:cNvPr id="9" name="Freeform 9"/>
          <p:cNvSpPr/>
          <p:nvPr/>
        </p:nvSpPr>
        <p:spPr>
          <a:xfrm>
            <a:off x="8324639" y="4046780"/>
            <a:ext cx="1836515" cy="5748931"/>
          </a:xfrm>
          <a:custGeom>
            <a:avLst/>
            <a:gdLst/>
            <a:ahLst/>
            <a:cxnLst/>
            <a:rect l="l" t="t" r="r" b="b"/>
            <a:pathLst>
              <a:path w="1836515" h="5748931">
                <a:moveTo>
                  <a:pt x="0" y="0"/>
                </a:moveTo>
                <a:lnTo>
                  <a:pt x="1836515" y="0"/>
                </a:lnTo>
                <a:lnTo>
                  <a:pt x="1836515" y="5748931"/>
                </a:lnTo>
                <a:lnTo>
                  <a:pt x="0" y="5748931"/>
                </a:lnTo>
                <a:lnTo>
                  <a:pt x="0" y="0"/>
                </a:lnTo>
                <a:close/>
              </a:path>
            </a:pathLst>
          </a:custGeom>
          <a:blipFill>
            <a:blip r:embed="rId5"/>
            <a:stretch>
              <a:fillRect l="-9274" r="-9871"/>
            </a:stretch>
          </a:blipFill>
        </p:spPr>
        <p:txBody>
          <a:bodyPr/>
          <a:lstStyle/>
          <a:p>
            <a:endParaRPr lang="en-US"/>
          </a:p>
        </p:txBody>
      </p:sp>
      <p:sp>
        <p:nvSpPr>
          <p:cNvPr id="10" name="TextBox 10"/>
          <p:cNvSpPr txBox="1"/>
          <p:nvPr/>
        </p:nvSpPr>
        <p:spPr>
          <a:xfrm>
            <a:off x="2597320" y="456350"/>
            <a:ext cx="13291152" cy="580865"/>
          </a:xfrm>
          <a:prstGeom prst="rect">
            <a:avLst/>
          </a:prstGeom>
        </p:spPr>
        <p:txBody>
          <a:bodyPr wrap="square" lIns="0" tIns="0" rIns="0" bIns="0" rtlCol="0" anchor="t">
            <a:spAutoFit/>
          </a:bodyPr>
          <a:lstStyle/>
          <a:p>
            <a:pPr algn="ctr">
              <a:lnSpc>
                <a:spcPts val="4427"/>
              </a:lnSpc>
              <a:spcBef>
                <a:spcPct val="0"/>
              </a:spcBef>
            </a:pPr>
            <a:r>
              <a:rPr lang="en-US" sz="4099" b="1" dirty="0">
                <a:solidFill>
                  <a:srgbClr val="F2EDD8"/>
                </a:solidFill>
                <a:latin typeface="Vollkorn Bold"/>
                <a:ea typeface="Vollkorn Bold"/>
                <a:cs typeface="Vollkorn Bold"/>
                <a:sym typeface="Vollkorn Bold"/>
              </a:rPr>
              <a:t>Evaluating Optimal ‘k’ using Mean Squared Error</a:t>
            </a:r>
          </a:p>
        </p:txBody>
      </p:sp>
      <p:sp>
        <p:nvSpPr>
          <p:cNvPr id="11" name="TextBox 11"/>
          <p:cNvSpPr txBox="1"/>
          <p:nvPr/>
        </p:nvSpPr>
        <p:spPr>
          <a:xfrm>
            <a:off x="10506238" y="3631078"/>
            <a:ext cx="7361864" cy="6513661"/>
          </a:xfrm>
          <a:prstGeom prst="rect">
            <a:avLst/>
          </a:prstGeom>
        </p:spPr>
        <p:txBody>
          <a:bodyPr lIns="0" tIns="0" rIns="0" bIns="0" rtlCol="0" anchor="t">
            <a:spAutoFit/>
          </a:bodyPr>
          <a:lstStyle/>
          <a:p>
            <a:pPr algn="just">
              <a:lnSpc>
                <a:spcPts val="3721"/>
              </a:lnSpc>
            </a:pPr>
            <a:r>
              <a:rPr lang="en-US" sz="2602" b="1">
                <a:solidFill>
                  <a:srgbClr val="F8EAD4"/>
                </a:solidFill>
                <a:latin typeface="Vollkorn Bold"/>
                <a:ea typeface="Vollkorn Bold"/>
                <a:cs typeface="Vollkorn Bold"/>
                <a:sym typeface="Vollkorn Bold"/>
              </a:rPr>
              <a:t>Visual Insights :</a:t>
            </a:r>
            <a:r>
              <a:rPr lang="en-US" sz="2602">
                <a:solidFill>
                  <a:srgbClr val="F5C116"/>
                </a:solidFill>
                <a:latin typeface="Vollkorn"/>
                <a:ea typeface="Vollkorn"/>
                <a:cs typeface="Vollkorn"/>
                <a:sym typeface="Vollkorn"/>
              </a:rPr>
              <a:t> </a:t>
            </a:r>
            <a:r>
              <a:rPr lang="en-US" sz="2602">
                <a:solidFill>
                  <a:srgbClr val="37463B"/>
                </a:solidFill>
                <a:latin typeface="Vollkorn"/>
                <a:ea typeface="Vollkorn"/>
                <a:cs typeface="Vollkorn"/>
                <a:sym typeface="Vollkorn"/>
              </a:rPr>
              <a:t>The MSE vs. k plot shows a sharp drop until k = 3, then rises and slowly declines demonstrating the bias-variance trade-off. </a:t>
            </a:r>
          </a:p>
          <a:p>
            <a:pPr algn="just">
              <a:lnSpc>
                <a:spcPts val="3721"/>
              </a:lnSpc>
            </a:pPr>
            <a:endParaRPr lang="en-US" sz="2602">
              <a:solidFill>
                <a:srgbClr val="37463B"/>
              </a:solidFill>
              <a:latin typeface="Vollkorn"/>
              <a:ea typeface="Vollkorn"/>
              <a:cs typeface="Vollkorn"/>
              <a:sym typeface="Vollkorn"/>
            </a:endParaRPr>
          </a:p>
          <a:p>
            <a:pPr algn="just">
              <a:lnSpc>
                <a:spcPts val="3721"/>
              </a:lnSpc>
            </a:pPr>
            <a:r>
              <a:rPr lang="en-US" sz="2602" b="1">
                <a:solidFill>
                  <a:srgbClr val="F8EAD4"/>
                </a:solidFill>
                <a:latin typeface="Vollkorn Bold"/>
                <a:ea typeface="Vollkorn Bold"/>
                <a:cs typeface="Vollkorn Bold"/>
                <a:sym typeface="Vollkorn Bold"/>
              </a:rPr>
              <a:t>Business Fit :</a:t>
            </a:r>
            <a:r>
              <a:rPr lang="en-US" sz="2602">
                <a:solidFill>
                  <a:srgbClr val="F7D3BC"/>
                </a:solidFill>
                <a:latin typeface="Vollkorn"/>
                <a:ea typeface="Vollkorn"/>
                <a:cs typeface="Vollkorn"/>
                <a:sym typeface="Vollkorn"/>
              </a:rPr>
              <a:t> </a:t>
            </a:r>
            <a:r>
              <a:rPr lang="en-US" sz="2602">
                <a:solidFill>
                  <a:srgbClr val="37463B"/>
                </a:solidFill>
                <a:latin typeface="Vollkorn"/>
                <a:ea typeface="Vollkorn"/>
                <a:cs typeface="Vollkorn"/>
                <a:sym typeface="Vollkorn"/>
              </a:rPr>
              <a:t>Confirmed that the model is generalizable, avoids overfitting, and is practical for real-world deployment. </a:t>
            </a:r>
          </a:p>
          <a:p>
            <a:pPr algn="just">
              <a:lnSpc>
                <a:spcPts val="3721"/>
              </a:lnSpc>
            </a:pPr>
            <a:endParaRPr lang="en-US" sz="2602">
              <a:solidFill>
                <a:srgbClr val="37463B"/>
              </a:solidFill>
              <a:latin typeface="Vollkorn"/>
              <a:ea typeface="Vollkorn"/>
              <a:cs typeface="Vollkorn"/>
              <a:sym typeface="Vollkorn"/>
            </a:endParaRPr>
          </a:p>
          <a:p>
            <a:pPr algn="just">
              <a:lnSpc>
                <a:spcPts val="3721"/>
              </a:lnSpc>
            </a:pPr>
            <a:r>
              <a:rPr lang="en-US" sz="2602" b="1">
                <a:solidFill>
                  <a:srgbClr val="F8EAD4"/>
                </a:solidFill>
                <a:latin typeface="Vollkorn Bold"/>
                <a:ea typeface="Vollkorn Bold"/>
                <a:cs typeface="Vollkorn Bold"/>
                <a:sym typeface="Vollkorn Bold"/>
              </a:rPr>
              <a:t>Decision-Ready Outcome : </a:t>
            </a:r>
            <a:r>
              <a:rPr lang="en-US" sz="2602">
                <a:solidFill>
                  <a:srgbClr val="37463B"/>
                </a:solidFill>
                <a:latin typeface="Vollkorn"/>
                <a:ea typeface="Vollkorn"/>
                <a:cs typeface="Vollkorn"/>
                <a:sym typeface="Vollkorn"/>
              </a:rPr>
              <a:t>k = 3 is the best choice offering balanced accuracy and stability for predicting future tip amounts.</a:t>
            </a:r>
          </a:p>
          <a:p>
            <a:pPr algn="just">
              <a:lnSpc>
                <a:spcPts val="2240"/>
              </a:lnSpc>
            </a:pPr>
            <a:endParaRPr lang="en-US" sz="2602">
              <a:solidFill>
                <a:srgbClr val="37463B"/>
              </a:solidFill>
              <a:latin typeface="Vollkorn"/>
              <a:ea typeface="Vollkorn"/>
              <a:cs typeface="Vollkorn"/>
              <a:sym typeface="Vollkorn"/>
            </a:endParaRPr>
          </a:p>
          <a:p>
            <a:pPr algn="just">
              <a:lnSpc>
                <a:spcPts val="2003"/>
              </a:lnSpc>
            </a:pPr>
            <a:endParaRPr lang="en-US" sz="2602">
              <a:solidFill>
                <a:srgbClr val="37463B"/>
              </a:solidFill>
              <a:latin typeface="Vollkorn"/>
              <a:ea typeface="Vollkorn"/>
              <a:cs typeface="Vollkorn"/>
              <a:sym typeface="Vollkorn"/>
            </a:endParaRPr>
          </a:p>
          <a:p>
            <a:pPr algn="just">
              <a:lnSpc>
                <a:spcPts val="2003"/>
              </a:lnSpc>
            </a:pPr>
            <a:endParaRPr lang="en-US" sz="2602">
              <a:solidFill>
                <a:srgbClr val="37463B"/>
              </a:solidFill>
              <a:latin typeface="Vollkorn"/>
              <a:ea typeface="Vollkorn"/>
              <a:cs typeface="Vollkorn"/>
              <a:sym typeface="Vollkorn"/>
            </a:endParaRPr>
          </a:p>
          <a:p>
            <a:pPr algn="just">
              <a:lnSpc>
                <a:spcPts val="2190"/>
              </a:lnSpc>
            </a:pPr>
            <a:endParaRPr lang="en-US" sz="2602">
              <a:solidFill>
                <a:srgbClr val="37463B"/>
              </a:solidFill>
              <a:latin typeface="Vollkorn"/>
              <a:ea typeface="Vollkorn"/>
              <a:cs typeface="Vollkorn"/>
              <a:sym typeface="Vollkorn"/>
            </a:endParaRPr>
          </a:p>
          <a:p>
            <a:pPr algn="just">
              <a:lnSpc>
                <a:spcPts val="2003"/>
              </a:lnSpc>
            </a:pPr>
            <a:endParaRPr lang="en-US" sz="2602">
              <a:solidFill>
                <a:srgbClr val="37463B"/>
              </a:solidFill>
              <a:latin typeface="Vollkorn"/>
              <a:ea typeface="Vollkorn"/>
              <a:cs typeface="Vollkorn"/>
              <a:sym typeface="Vollkor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1598"/>
            <a:ext cx="18286515" cy="10298598"/>
            <a:chOff x="0" y="0"/>
            <a:chExt cx="24382020" cy="13731464"/>
          </a:xfrm>
        </p:grpSpPr>
        <p:sp>
          <p:nvSpPr>
            <p:cNvPr id="3" name="Freeform 3"/>
            <p:cNvSpPr/>
            <p:nvPr/>
          </p:nvSpPr>
          <p:spPr>
            <a:xfrm>
              <a:off x="0" y="0"/>
              <a:ext cx="24381968" cy="13731494"/>
            </a:xfrm>
            <a:custGeom>
              <a:avLst/>
              <a:gdLst/>
              <a:ahLst/>
              <a:cxnLst/>
              <a:rect l="l" t="t" r="r" b="b"/>
              <a:pathLst>
                <a:path w="24381968" h="13731494">
                  <a:moveTo>
                    <a:pt x="0" y="0"/>
                  </a:moveTo>
                  <a:lnTo>
                    <a:pt x="24381968" y="0"/>
                  </a:lnTo>
                  <a:lnTo>
                    <a:pt x="24381968" y="13731494"/>
                  </a:lnTo>
                  <a:lnTo>
                    <a:pt x="0" y="13731494"/>
                  </a:lnTo>
                  <a:close/>
                </a:path>
              </a:pathLst>
            </a:custGeom>
            <a:solidFill>
              <a:srgbClr val="D98364"/>
            </a:solidFill>
          </p:spPr>
          <p:txBody>
            <a:bodyPr/>
            <a:lstStyle/>
            <a:p>
              <a:endParaRPr lang="en-US"/>
            </a:p>
          </p:txBody>
        </p:sp>
      </p:grpSp>
      <p:sp>
        <p:nvSpPr>
          <p:cNvPr id="4" name="Freeform 4"/>
          <p:cNvSpPr/>
          <p:nvPr/>
        </p:nvSpPr>
        <p:spPr>
          <a:xfrm rot="-10800000" flipV="1">
            <a:off x="-11" y="-11469"/>
            <a:ext cx="18286526" cy="7631469"/>
          </a:xfrm>
          <a:custGeom>
            <a:avLst/>
            <a:gdLst/>
            <a:ahLst/>
            <a:cxnLst/>
            <a:rect l="l" t="t" r="r" b="b"/>
            <a:pathLst>
              <a:path w="18286526" h="7631469">
                <a:moveTo>
                  <a:pt x="0" y="7631469"/>
                </a:moveTo>
                <a:lnTo>
                  <a:pt x="18286526" y="7631469"/>
                </a:lnTo>
                <a:lnTo>
                  <a:pt x="18286526" y="0"/>
                </a:lnTo>
                <a:lnTo>
                  <a:pt x="0" y="0"/>
                </a:lnTo>
                <a:lnTo>
                  <a:pt x="0" y="7631469"/>
                </a:lnTo>
                <a:close/>
              </a:path>
            </a:pathLst>
          </a:custGeom>
          <a:blipFill>
            <a:blip r:embed="rId3">
              <a:alphaModFix amt="5000"/>
            </a:blip>
            <a:stretch>
              <a:fillRect l="-3754" r="-2272" b="-51923"/>
            </a:stretch>
          </a:blipFill>
        </p:spPr>
        <p:txBody>
          <a:bodyPr/>
          <a:lstStyle/>
          <a:p>
            <a:endParaRPr lang="en-US"/>
          </a:p>
        </p:txBody>
      </p:sp>
      <p:grpSp>
        <p:nvGrpSpPr>
          <p:cNvPr id="5" name="Group 5"/>
          <p:cNvGrpSpPr/>
          <p:nvPr/>
        </p:nvGrpSpPr>
        <p:grpSpPr>
          <a:xfrm>
            <a:off x="399772" y="399774"/>
            <a:ext cx="17488455" cy="9487450"/>
            <a:chOff x="0" y="0"/>
            <a:chExt cx="23317940" cy="12649934"/>
          </a:xfrm>
        </p:grpSpPr>
        <p:sp>
          <p:nvSpPr>
            <p:cNvPr id="6" name="Freeform 6"/>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F8EAD4"/>
            </a:solidFill>
          </p:spPr>
          <p:txBody>
            <a:bodyPr/>
            <a:lstStyle/>
            <a:p>
              <a:endParaRPr lang="en-US"/>
            </a:p>
          </p:txBody>
        </p:sp>
      </p:grpSp>
      <p:sp>
        <p:nvSpPr>
          <p:cNvPr id="7" name="Freeform 7"/>
          <p:cNvSpPr/>
          <p:nvPr/>
        </p:nvSpPr>
        <p:spPr>
          <a:xfrm>
            <a:off x="14595383" y="1741473"/>
            <a:ext cx="2663917" cy="2665028"/>
          </a:xfrm>
          <a:custGeom>
            <a:avLst/>
            <a:gdLst/>
            <a:ahLst/>
            <a:cxnLst/>
            <a:rect l="l" t="t" r="r" b="b"/>
            <a:pathLst>
              <a:path w="2663917" h="2665028">
                <a:moveTo>
                  <a:pt x="0" y="0"/>
                </a:moveTo>
                <a:lnTo>
                  <a:pt x="2663917" y="0"/>
                </a:lnTo>
                <a:lnTo>
                  <a:pt x="2663917" y="2665028"/>
                </a:lnTo>
                <a:lnTo>
                  <a:pt x="0" y="2665028"/>
                </a:lnTo>
                <a:lnTo>
                  <a:pt x="0" y="0"/>
                </a:lnTo>
                <a:close/>
              </a:path>
            </a:pathLst>
          </a:custGeom>
          <a:blipFill>
            <a:blip r:embed="rId4"/>
            <a:stretch>
              <a:fillRect/>
            </a:stretch>
          </a:blipFill>
        </p:spPr>
        <p:txBody>
          <a:bodyPr/>
          <a:lstStyle/>
          <a:p>
            <a:endParaRPr lang="en-US"/>
          </a:p>
        </p:txBody>
      </p:sp>
      <p:sp>
        <p:nvSpPr>
          <p:cNvPr id="8" name="Freeform 8"/>
          <p:cNvSpPr/>
          <p:nvPr/>
        </p:nvSpPr>
        <p:spPr>
          <a:xfrm rot="2107581">
            <a:off x="13571346" y="1846477"/>
            <a:ext cx="1530009" cy="1669653"/>
          </a:xfrm>
          <a:custGeom>
            <a:avLst/>
            <a:gdLst/>
            <a:ahLst/>
            <a:cxnLst/>
            <a:rect l="l" t="t" r="r" b="b"/>
            <a:pathLst>
              <a:path w="1530009" h="1669653">
                <a:moveTo>
                  <a:pt x="0" y="0"/>
                </a:moveTo>
                <a:lnTo>
                  <a:pt x="1530010" y="0"/>
                </a:lnTo>
                <a:lnTo>
                  <a:pt x="1530010" y="1669653"/>
                </a:lnTo>
                <a:lnTo>
                  <a:pt x="0" y="166965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a:off x="13698536" y="3343310"/>
            <a:ext cx="1989617" cy="1766833"/>
          </a:xfrm>
          <a:custGeom>
            <a:avLst/>
            <a:gdLst/>
            <a:ahLst/>
            <a:cxnLst/>
            <a:rect l="l" t="t" r="r" b="b"/>
            <a:pathLst>
              <a:path w="1989617" h="1766833">
                <a:moveTo>
                  <a:pt x="0" y="0"/>
                </a:moveTo>
                <a:lnTo>
                  <a:pt x="1989617" y="0"/>
                </a:lnTo>
                <a:lnTo>
                  <a:pt x="1989617" y="1766833"/>
                </a:lnTo>
                <a:lnTo>
                  <a:pt x="0" y="17668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a:off x="15434857" y="3239624"/>
            <a:ext cx="2035454" cy="2309735"/>
          </a:xfrm>
          <a:custGeom>
            <a:avLst/>
            <a:gdLst/>
            <a:ahLst/>
            <a:cxnLst/>
            <a:rect l="l" t="t" r="r" b="b"/>
            <a:pathLst>
              <a:path w="2035454" h="2309735">
                <a:moveTo>
                  <a:pt x="0" y="0"/>
                </a:moveTo>
                <a:lnTo>
                  <a:pt x="2035455" y="0"/>
                </a:lnTo>
                <a:lnTo>
                  <a:pt x="2035455" y="2309735"/>
                </a:lnTo>
                <a:lnTo>
                  <a:pt x="0" y="230973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633918" y="6368332"/>
            <a:ext cx="5686068" cy="3262382"/>
          </a:xfrm>
          <a:custGeom>
            <a:avLst/>
            <a:gdLst/>
            <a:ahLst/>
            <a:cxnLst/>
            <a:rect l="l" t="t" r="r" b="b"/>
            <a:pathLst>
              <a:path w="5686068" h="3262382">
                <a:moveTo>
                  <a:pt x="0" y="0"/>
                </a:moveTo>
                <a:lnTo>
                  <a:pt x="5686069" y="0"/>
                </a:lnTo>
                <a:lnTo>
                  <a:pt x="5686069" y="3262381"/>
                </a:lnTo>
                <a:lnTo>
                  <a:pt x="0" y="3262381"/>
                </a:lnTo>
                <a:lnTo>
                  <a:pt x="0" y="0"/>
                </a:lnTo>
                <a:close/>
              </a:path>
            </a:pathLst>
          </a:custGeom>
          <a:blipFill>
            <a:blip r:embed="rId11"/>
            <a:stretch>
              <a:fillRect/>
            </a:stretch>
          </a:blipFill>
        </p:spPr>
        <p:txBody>
          <a:bodyPr/>
          <a:lstStyle/>
          <a:p>
            <a:endParaRPr lang="en-US"/>
          </a:p>
        </p:txBody>
      </p:sp>
      <p:sp>
        <p:nvSpPr>
          <p:cNvPr id="12" name="TextBox 12"/>
          <p:cNvSpPr txBox="1"/>
          <p:nvPr/>
        </p:nvSpPr>
        <p:spPr>
          <a:xfrm>
            <a:off x="808976" y="914400"/>
            <a:ext cx="12669836" cy="5411597"/>
          </a:xfrm>
          <a:prstGeom prst="rect">
            <a:avLst/>
          </a:prstGeom>
        </p:spPr>
        <p:txBody>
          <a:bodyPr lIns="0" tIns="0" rIns="0" bIns="0" rtlCol="0" anchor="t">
            <a:spAutoFit/>
          </a:bodyPr>
          <a:lstStyle/>
          <a:p>
            <a:pPr algn="just">
              <a:lnSpc>
                <a:spcPts val="4830"/>
              </a:lnSpc>
            </a:pPr>
            <a:r>
              <a:rPr lang="en-US" sz="3000" b="1">
                <a:solidFill>
                  <a:srgbClr val="F8EAD4"/>
                </a:solidFill>
                <a:latin typeface="Vollkorn Bold"/>
                <a:ea typeface="Vollkorn Bold"/>
                <a:cs typeface="Vollkorn Bold"/>
                <a:sym typeface="Vollkorn Bold"/>
              </a:rPr>
              <a:t>Strength:</a:t>
            </a:r>
            <a:r>
              <a:rPr lang="en-US" sz="3000">
                <a:solidFill>
                  <a:srgbClr val="000000"/>
                </a:solidFill>
                <a:latin typeface="Vollkorn"/>
                <a:ea typeface="Vollkorn"/>
                <a:cs typeface="Vollkorn"/>
                <a:sym typeface="Vollkorn"/>
              </a:rPr>
              <a:t> The model achieved its best performance at k = 3, with the lowest MSE, showing strong predictive accuracy for tip amounts.</a:t>
            </a:r>
          </a:p>
          <a:p>
            <a:pPr algn="just">
              <a:lnSpc>
                <a:spcPts val="4830"/>
              </a:lnSpc>
            </a:pPr>
            <a:r>
              <a:rPr lang="en-US" sz="3000" b="1">
                <a:solidFill>
                  <a:srgbClr val="F8EAD4"/>
                </a:solidFill>
                <a:latin typeface="Vollkorn Bold"/>
                <a:ea typeface="Vollkorn Bold"/>
                <a:cs typeface="Vollkorn Bold"/>
                <a:sym typeface="Vollkorn Bold"/>
              </a:rPr>
              <a:t>Limitations:</a:t>
            </a:r>
            <a:r>
              <a:rPr lang="en-US" sz="3000">
                <a:solidFill>
                  <a:srgbClr val="000000"/>
                </a:solidFill>
                <a:latin typeface="Vollkorn"/>
                <a:ea typeface="Vollkorn"/>
                <a:cs typeface="Vollkorn"/>
                <a:sym typeface="Vollkorn"/>
              </a:rPr>
              <a:t> Feature Sensitivity: Performance depends heavily on proper feature scaling, as KNN uses distance metrics.</a:t>
            </a:r>
          </a:p>
          <a:p>
            <a:pPr algn="just">
              <a:lnSpc>
                <a:spcPts val="4830"/>
              </a:lnSpc>
            </a:pPr>
            <a:r>
              <a:rPr lang="en-US" sz="3000" b="1">
                <a:solidFill>
                  <a:srgbClr val="F8EAD4"/>
                </a:solidFill>
                <a:latin typeface="Vollkorn Bold"/>
                <a:ea typeface="Vollkorn Bold"/>
                <a:cs typeface="Vollkorn Bold"/>
                <a:sym typeface="Vollkorn Bold"/>
              </a:rPr>
              <a:t>Curse of Dimensionality: </a:t>
            </a:r>
            <a:r>
              <a:rPr lang="en-US" sz="3000">
                <a:solidFill>
                  <a:srgbClr val="000000"/>
                </a:solidFill>
                <a:latin typeface="Vollkorn"/>
                <a:ea typeface="Vollkorn"/>
                <a:cs typeface="Vollkorn"/>
                <a:sym typeface="Vollkorn"/>
              </a:rPr>
              <a:t>KNN may perform poorly with sparse or high-dimensional data.</a:t>
            </a:r>
          </a:p>
          <a:p>
            <a:pPr algn="just">
              <a:lnSpc>
                <a:spcPts val="4830"/>
              </a:lnSpc>
            </a:pPr>
            <a:r>
              <a:rPr lang="en-US" sz="3000" b="1">
                <a:solidFill>
                  <a:srgbClr val="F8EAD4"/>
                </a:solidFill>
                <a:latin typeface="Vollkorn Bold"/>
                <a:ea typeface="Vollkorn Bold"/>
                <a:cs typeface="Vollkorn Bold"/>
                <a:sym typeface="Vollkorn Bold"/>
              </a:rPr>
              <a:t>Efficiency</a:t>
            </a:r>
            <a:r>
              <a:rPr lang="en-US" sz="3000">
                <a:solidFill>
                  <a:srgbClr val="F6F6E9"/>
                </a:solidFill>
                <a:latin typeface="Vollkorn"/>
                <a:ea typeface="Vollkorn"/>
                <a:cs typeface="Vollkorn"/>
                <a:sym typeface="Vollkorn"/>
              </a:rPr>
              <a:t>: </a:t>
            </a:r>
            <a:r>
              <a:rPr lang="en-US" sz="3000">
                <a:solidFill>
                  <a:srgbClr val="000000"/>
                </a:solidFill>
                <a:latin typeface="Vollkorn"/>
                <a:ea typeface="Vollkorn"/>
                <a:cs typeface="Vollkorn"/>
                <a:sym typeface="Vollkorn"/>
              </a:rPr>
              <a:t>It’s computationally intensive, especially on larger datasets, since predictions use the full training set.</a:t>
            </a:r>
          </a:p>
          <a:p>
            <a:pPr algn="just">
              <a:lnSpc>
                <a:spcPts val="4507"/>
              </a:lnSpc>
            </a:pPr>
            <a:endParaRPr lang="en-US" sz="3000">
              <a:solidFill>
                <a:srgbClr val="000000"/>
              </a:solidFill>
              <a:latin typeface="Vollkorn"/>
              <a:ea typeface="Vollkorn"/>
              <a:cs typeface="Vollkorn"/>
              <a:sym typeface="Vollkorn"/>
            </a:endParaRPr>
          </a:p>
        </p:txBody>
      </p:sp>
      <p:sp>
        <p:nvSpPr>
          <p:cNvPr id="13" name="TextBox 13"/>
          <p:cNvSpPr txBox="1"/>
          <p:nvPr/>
        </p:nvSpPr>
        <p:spPr>
          <a:xfrm>
            <a:off x="6711426" y="6249115"/>
            <a:ext cx="10278207" cy="3009900"/>
          </a:xfrm>
          <a:prstGeom prst="rect">
            <a:avLst/>
          </a:prstGeom>
        </p:spPr>
        <p:txBody>
          <a:bodyPr lIns="0" tIns="0" rIns="0" bIns="0" rtlCol="0" anchor="t">
            <a:spAutoFit/>
          </a:bodyPr>
          <a:lstStyle/>
          <a:p>
            <a:pPr algn="l">
              <a:lnSpc>
                <a:spcPts val="4800"/>
              </a:lnSpc>
            </a:pPr>
            <a:r>
              <a:rPr lang="en-US" sz="3000" b="1">
                <a:solidFill>
                  <a:srgbClr val="F8EAD4"/>
                </a:solidFill>
                <a:latin typeface="Vollkorn Bold"/>
                <a:ea typeface="Vollkorn Bold"/>
                <a:cs typeface="Vollkorn Bold"/>
                <a:sym typeface="Vollkorn Bold"/>
              </a:rPr>
              <a:t>Recommendation:</a:t>
            </a:r>
          </a:p>
          <a:p>
            <a:pPr algn="l">
              <a:lnSpc>
                <a:spcPts val="4800"/>
              </a:lnSpc>
            </a:pPr>
            <a:r>
              <a:rPr lang="en-US" sz="3000">
                <a:solidFill>
                  <a:srgbClr val="000000"/>
                </a:solidFill>
                <a:latin typeface="Vollkorn"/>
                <a:ea typeface="Vollkorn"/>
                <a:cs typeface="Vollkorn"/>
                <a:sym typeface="Vollkorn"/>
              </a:rPr>
              <a:t>KNN works well in this scenario but needs further testing and cross-validation before deployment. For large-scale or real-time use, consider more scalable models like decision trees or ensemble methods.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84A8B9"/>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7999"/>
            </a:blip>
            <a:stretch>
              <a:fillRect t="-76328" b="-1448"/>
            </a:stretch>
          </a:blipFill>
        </p:spPr>
        <p:txBody>
          <a:bodyPr/>
          <a:lstStyle/>
          <a:p>
            <a:endParaRPr lang="en-US"/>
          </a:p>
        </p:txBody>
      </p:sp>
      <p:grpSp>
        <p:nvGrpSpPr>
          <p:cNvPr id="3" name="Group 3"/>
          <p:cNvGrpSpPr/>
          <p:nvPr/>
        </p:nvGrpSpPr>
        <p:grpSpPr>
          <a:xfrm>
            <a:off x="449973" y="871192"/>
            <a:ext cx="17388054" cy="2282012"/>
            <a:chOff x="0" y="0"/>
            <a:chExt cx="23692024" cy="3109346"/>
          </a:xfrm>
        </p:grpSpPr>
        <p:sp>
          <p:nvSpPr>
            <p:cNvPr id="4" name="Freeform 4"/>
            <p:cNvSpPr/>
            <p:nvPr/>
          </p:nvSpPr>
          <p:spPr>
            <a:xfrm>
              <a:off x="0" y="0"/>
              <a:ext cx="23692024" cy="3109346"/>
            </a:xfrm>
            <a:custGeom>
              <a:avLst/>
              <a:gdLst/>
              <a:ahLst/>
              <a:cxnLst/>
              <a:rect l="l" t="t" r="r" b="b"/>
              <a:pathLst>
                <a:path w="23692024" h="3109346">
                  <a:moveTo>
                    <a:pt x="0" y="0"/>
                  </a:moveTo>
                  <a:lnTo>
                    <a:pt x="23692024" y="0"/>
                  </a:lnTo>
                  <a:lnTo>
                    <a:pt x="23692024" y="3109346"/>
                  </a:lnTo>
                  <a:lnTo>
                    <a:pt x="0" y="3109346"/>
                  </a:lnTo>
                  <a:close/>
                </a:path>
              </a:pathLst>
            </a:custGeom>
            <a:solidFill>
              <a:srgbClr val="000000">
                <a:alpha val="0"/>
              </a:srgbClr>
            </a:solidFill>
          </p:spPr>
          <p:txBody>
            <a:bodyPr/>
            <a:lstStyle/>
            <a:p>
              <a:endParaRPr lang="en-US"/>
            </a:p>
          </p:txBody>
        </p:sp>
        <p:sp>
          <p:nvSpPr>
            <p:cNvPr id="5" name="TextBox 5"/>
            <p:cNvSpPr txBox="1"/>
            <p:nvPr/>
          </p:nvSpPr>
          <p:spPr>
            <a:xfrm>
              <a:off x="0" y="300766"/>
              <a:ext cx="23692024" cy="2409559"/>
            </a:xfrm>
            <a:prstGeom prst="rect">
              <a:avLst/>
            </a:prstGeom>
          </p:spPr>
          <p:txBody>
            <a:bodyPr lIns="0" tIns="0" rIns="0" bIns="0" rtlCol="0" anchor="t"/>
            <a:lstStyle/>
            <a:p>
              <a:pPr algn="ctr">
                <a:lnSpc>
                  <a:spcPts val="3131"/>
                </a:lnSpc>
              </a:pPr>
              <a:r>
                <a:rPr lang="en-US" sz="2899" b="1" dirty="0">
                  <a:solidFill>
                    <a:srgbClr val="FCEBAB"/>
                  </a:solidFill>
                  <a:latin typeface="Vollkorn Bold"/>
                  <a:ea typeface="Vollkorn Bold"/>
                  <a:cs typeface="Vollkorn Bold"/>
                  <a:sym typeface="Vollkorn Bold"/>
                </a:rPr>
                <a:t>Taxi usage across NYC boroughs:</a:t>
              </a:r>
            </a:p>
            <a:p>
              <a:pPr algn="just">
                <a:lnSpc>
                  <a:spcPts val="2592"/>
                </a:lnSpc>
              </a:pPr>
              <a:endParaRPr lang="en-US" sz="2899" b="1" dirty="0">
                <a:solidFill>
                  <a:srgbClr val="FCEBAB"/>
                </a:solidFill>
                <a:latin typeface="Vollkorn Bold"/>
                <a:ea typeface="Vollkorn Bold"/>
                <a:cs typeface="Vollkorn Bold"/>
                <a:sym typeface="Vollkorn Bold"/>
              </a:endParaRPr>
            </a:p>
            <a:p>
              <a:pPr algn="just">
                <a:lnSpc>
                  <a:spcPts val="2699"/>
                </a:lnSpc>
              </a:pPr>
              <a:r>
                <a:rPr lang="en-US" sz="2499" b="1" dirty="0">
                  <a:solidFill>
                    <a:srgbClr val="000000"/>
                  </a:solidFill>
                  <a:latin typeface="Vollkorn Bold"/>
                  <a:ea typeface="Vollkorn Bold"/>
                  <a:cs typeface="Vollkorn Bold"/>
                  <a:sym typeface="Vollkorn Bold"/>
                </a:rPr>
                <a:t>Manhattan </a:t>
              </a:r>
              <a:r>
                <a:rPr lang="en-US" sz="2499" dirty="0">
                  <a:solidFill>
                    <a:srgbClr val="000000"/>
                  </a:solidFill>
                  <a:latin typeface="Vollkorn"/>
                  <a:ea typeface="Vollkorn"/>
                  <a:cs typeface="Vollkorn"/>
                  <a:sym typeface="Vollkorn"/>
                </a:rPr>
                <a:t>leads in taxi pickups, driven by business, tourism, and nightlife.</a:t>
              </a:r>
              <a:r>
                <a:rPr lang="en-US" sz="2499" b="1" dirty="0">
                  <a:solidFill>
                    <a:srgbClr val="000000"/>
                  </a:solidFill>
                  <a:latin typeface="Vollkorn Bold"/>
                  <a:ea typeface="Vollkorn Bold"/>
                  <a:cs typeface="Vollkorn Bold"/>
                  <a:sym typeface="Vollkorn Bold"/>
                </a:rPr>
                <a:t> Brooklyn </a:t>
              </a:r>
              <a:r>
                <a:rPr lang="en-US" sz="2499" dirty="0">
                  <a:solidFill>
                    <a:srgbClr val="000000"/>
                  </a:solidFill>
                  <a:latin typeface="Vollkorn"/>
                  <a:ea typeface="Vollkorn"/>
                  <a:cs typeface="Vollkorn"/>
                  <a:sym typeface="Vollkorn"/>
                </a:rPr>
                <a:t>has strong taxi demand for residential and local commuting. </a:t>
              </a:r>
              <a:r>
                <a:rPr lang="en-US" sz="2499" b="1" dirty="0">
                  <a:solidFill>
                    <a:srgbClr val="000000"/>
                  </a:solidFill>
                  <a:latin typeface="Vollkorn Bold"/>
                  <a:ea typeface="Vollkorn Bold"/>
                  <a:cs typeface="Vollkorn Bold"/>
                  <a:sym typeface="Vollkorn Bold"/>
                </a:rPr>
                <a:t>Queens </a:t>
              </a:r>
              <a:r>
                <a:rPr lang="en-US" sz="2499" dirty="0">
                  <a:solidFill>
                    <a:srgbClr val="000000"/>
                  </a:solidFill>
                  <a:latin typeface="Vollkorn"/>
                  <a:ea typeface="Vollkorn"/>
                  <a:cs typeface="Vollkorn"/>
                  <a:sym typeface="Vollkorn"/>
                </a:rPr>
                <a:t>sees high taxi usage due to airport travel to JFK and LaGuardia. </a:t>
              </a:r>
              <a:r>
                <a:rPr lang="en-US" sz="2499" b="1" dirty="0">
                  <a:solidFill>
                    <a:srgbClr val="000000"/>
                  </a:solidFill>
                  <a:latin typeface="Vollkorn Bold"/>
                  <a:ea typeface="Vollkorn Bold"/>
                  <a:cs typeface="Vollkorn Bold"/>
                  <a:sym typeface="Vollkorn Bold"/>
                </a:rPr>
                <a:t>The Bronx</a:t>
              </a:r>
              <a:r>
                <a:rPr lang="en-US" sz="2499" dirty="0">
                  <a:solidFill>
                    <a:srgbClr val="000000"/>
                  </a:solidFill>
                  <a:latin typeface="Vollkorn"/>
                  <a:ea typeface="Vollkorn"/>
                  <a:cs typeface="Vollkorn"/>
                  <a:sym typeface="Vollkorn"/>
                </a:rPr>
                <a:t> has the lowest taxi demand, likely due to greater reliance on public transportation or personal vehicles.</a:t>
              </a:r>
            </a:p>
            <a:p>
              <a:pPr algn="just">
                <a:lnSpc>
                  <a:spcPts val="2592"/>
                </a:lnSpc>
              </a:pPr>
              <a:endParaRPr lang="en-US" sz="2499" dirty="0">
                <a:solidFill>
                  <a:srgbClr val="000000"/>
                </a:solidFill>
                <a:latin typeface="Vollkorn"/>
                <a:ea typeface="Vollkorn"/>
                <a:cs typeface="Vollkorn"/>
                <a:sym typeface="Vollkorn"/>
              </a:endParaRPr>
            </a:p>
          </p:txBody>
        </p:sp>
      </p:grpSp>
      <p:sp>
        <p:nvSpPr>
          <p:cNvPr id="6" name="Freeform 6"/>
          <p:cNvSpPr/>
          <p:nvPr/>
        </p:nvSpPr>
        <p:spPr>
          <a:xfrm>
            <a:off x="305146" y="3870653"/>
            <a:ext cx="9135921" cy="5713537"/>
          </a:xfrm>
          <a:custGeom>
            <a:avLst/>
            <a:gdLst/>
            <a:ahLst/>
            <a:cxnLst/>
            <a:rect l="l" t="t" r="r" b="b"/>
            <a:pathLst>
              <a:path w="9135921" h="5713537">
                <a:moveTo>
                  <a:pt x="0" y="0"/>
                </a:moveTo>
                <a:lnTo>
                  <a:pt x="9135922" y="0"/>
                </a:lnTo>
                <a:lnTo>
                  <a:pt x="9135922" y="5713537"/>
                </a:lnTo>
                <a:lnTo>
                  <a:pt x="0" y="5713537"/>
                </a:lnTo>
                <a:lnTo>
                  <a:pt x="0" y="0"/>
                </a:lnTo>
                <a:close/>
              </a:path>
            </a:pathLst>
          </a:custGeom>
          <a:blipFill>
            <a:blip r:embed="rId4"/>
            <a:stretch>
              <a:fillRect l="-3370"/>
            </a:stretch>
          </a:blipFill>
        </p:spPr>
        <p:txBody>
          <a:bodyPr/>
          <a:lstStyle/>
          <a:p>
            <a:endParaRPr lang="en-US"/>
          </a:p>
        </p:txBody>
      </p:sp>
      <p:grpSp>
        <p:nvGrpSpPr>
          <p:cNvPr id="7" name="Group 7"/>
          <p:cNvGrpSpPr/>
          <p:nvPr/>
        </p:nvGrpSpPr>
        <p:grpSpPr>
          <a:xfrm>
            <a:off x="3251347" y="3485628"/>
            <a:ext cx="3243519" cy="770050"/>
            <a:chOff x="0" y="0"/>
            <a:chExt cx="4324692" cy="1026733"/>
          </a:xfrm>
        </p:grpSpPr>
        <p:sp>
          <p:nvSpPr>
            <p:cNvPr id="8" name="Freeform 8"/>
            <p:cNvSpPr/>
            <p:nvPr/>
          </p:nvSpPr>
          <p:spPr>
            <a:xfrm>
              <a:off x="0" y="0"/>
              <a:ext cx="4324731" cy="1026713"/>
            </a:xfrm>
            <a:custGeom>
              <a:avLst/>
              <a:gdLst/>
              <a:ahLst/>
              <a:cxnLst/>
              <a:rect l="l" t="t" r="r" b="b"/>
              <a:pathLst>
                <a:path w="4324731" h="1026713">
                  <a:moveTo>
                    <a:pt x="0" y="0"/>
                  </a:moveTo>
                  <a:lnTo>
                    <a:pt x="4324731" y="0"/>
                  </a:lnTo>
                  <a:lnTo>
                    <a:pt x="4324731" y="1026713"/>
                  </a:lnTo>
                  <a:lnTo>
                    <a:pt x="0" y="1026713"/>
                  </a:lnTo>
                  <a:close/>
                </a:path>
              </a:pathLst>
            </a:custGeom>
            <a:solidFill>
              <a:srgbClr val="F8EAD4">
                <a:alpha val="63922"/>
              </a:srgbClr>
            </a:solidFill>
          </p:spPr>
          <p:txBody>
            <a:bodyPr/>
            <a:lstStyle/>
            <a:p>
              <a:endParaRPr lang="en-US"/>
            </a:p>
          </p:txBody>
        </p:sp>
      </p:grpSp>
      <p:sp>
        <p:nvSpPr>
          <p:cNvPr id="9" name="TextBox 9"/>
          <p:cNvSpPr txBox="1"/>
          <p:nvPr/>
        </p:nvSpPr>
        <p:spPr>
          <a:xfrm>
            <a:off x="9637789" y="2891790"/>
            <a:ext cx="8124838" cy="7184018"/>
          </a:xfrm>
          <a:prstGeom prst="rect">
            <a:avLst/>
          </a:prstGeom>
        </p:spPr>
        <p:txBody>
          <a:bodyPr lIns="0" tIns="0" rIns="0" bIns="0" rtlCol="0" anchor="t">
            <a:spAutoFit/>
          </a:bodyPr>
          <a:lstStyle/>
          <a:p>
            <a:pPr algn="ctr">
              <a:lnSpc>
                <a:spcPts val="3131"/>
              </a:lnSpc>
              <a:spcBef>
                <a:spcPct val="0"/>
              </a:spcBef>
            </a:pPr>
            <a:r>
              <a:rPr lang="en-US" sz="2800" b="1" dirty="0">
                <a:solidFill>
                  <a:srgbClr val="FCEBAB"/>
                </a:solidFill>
                <a:latin typeface="Vollkorn Bold"/>
                <a:ea typeface="Vollkorn Bold"/>
                <a:cs typeface="Vollkorn Bold"/>
                <a:sym typeface="Vollkorn Bold"/>
              </a:rPr>
              <a:t>What This Tells Us About NYC’s Taxi Culture?</a:t>
            </a:r>
          </a:p>
          <a:p>
            <a:pPr algn="just">
              <a:lnSpc>
                <a:spcPts val="2699"/>
              </a:lnSpc>
              <a:spcBef>
                <a:spcPct val="0"/>
              </a:spcBef>
            </a:pPr>
            <a:endParaRPr lang="en-US" sz="2800" b="1" dirty="0">
              <a:solidFill>
                <a:srgbClr val="FCEBAB"/>
              </a:solidFill>
              <a:latin typeface="Vollkorn Bold"/>
              <a:ea typeface="Vollkorn Bold"/>
              <a:cs typeface="Vollkorn Bold"/>
              <a:sym typeface="Vollkorn Bold"/>
            </a:endParaRPr>
          </a:p>
          <a:p>
            <a:pPr algn="just">
              <a:lnSpc>
                <a:spcPts val="2807"/>
              </a:lnSpc>
              <a:spcBef>
                <a:spcPct val="0"/>
              </a:spcBef>
            </a:pPr>
            <a:r>
              <a:rPr lang="en-US" sz="2400" b="1" dirty="0">
                <a:solidFill>
                  <a:srgbClr val="F2EDD8"/>
                </a:solidFill>
                <a:latin typeface="Vollkorn Bold"/>
                <a:ea typeface="Vollkorn Bold"/>
                <a:cs typeface="Vollkorn Bold"/>
                <a:sym typeface="Vollkorn Bold"/>
              </a:rPr>
              <a:t>Manhattan’s Taxi Dependence:</a:t>
            </a:r>
            <a:r>
              <a:rPr lang="en-US" sz="2400" dirty="0">
                <a:solidFill>
                  <a:srgbClr val="FCEBAB"/>
                </a:solidFill>
                <a:latin typeface="Vollkorn"/>
                <a:ea typeface="Vollkorn"/>
                <a:cs typeface="Vollkorn"/>
                <a:sym typeface="Vollkorn"/>
              </a:rPr>
              <a:t> </a:t>
            </a:r>
            <a:r>
              <a:rPr lang="en-US" sz="2400" dirty="0">
                <a:solidFill>
                  <a:srgbClr val="000000"/>
                </a:solidFill>
                <a:latin typeface="Vollkorn"/>
                <a:ea typeface="Vollkorn"/>
                <a:cs typeface="Vollkorn"/>
                <a:sym typeface="Vollkorn"/>
              </a:rPr>
              <a:t>The dominance of Manhattan in taxi usage highlights its pivotal role in the city’s economy, culture, and tourism. Taxis here cater to both everyday needs and visitors from all around the world, making them a crucial part of NYC’s transportation ecosystem.</a:t>
            </a:r>
          </a:p>
          <a:p>
            <a:pPr algn="just">
              <a:lnSpc>
                <a:spcPts val="2699"/>
              </a:lnSpc>
              <a:spcBef>
                <a:spcPct val="0"/>
              </a:spcBef>
            </a:pPr>
            <a:endParaRPr lang="en-US" sz="2400" dirty="0">
              <a:solidFill>
                <a:srgbClr val="000000"/>
              </a:solidFill>
              <a:latin typeface="Vollkorn"/>
              <a:ea typeface="Vollkorn"/>
              <a:cs typeface="Vollkorn"/>
              <a:sym typeface="Vollkorn"/>
            </a:endParaRPr>
          </a:p>
          <a:p>
            <a:pPr algn="just">
              <a:lnSpc>
                <a:spcPts val="2807"/>
              </a:lnSpc>
              <a:spcBef>
                <a:spcPct val="0"/>
              </a:spcBef>
            </a:pPr>
            <a:r>
              <a:rPr lang="en-US" sz="2400" b="1" dirty="0">
                <a:solidFill>
                  <a:srgbClr val="F8EAD4"/>
                </a:solidFill>
                <a:latin typeface="Vollkorn Bold"/>
                <a:ea typeface="Vollkorn Bold"/>
                <a:cs typeface="Vollkorn Bold"/>
                <a:sym typeface="Vollkorn Bold"/>
              </a:rPr>
              <a:t>Local vs. Tourist Demand:</a:t>
            </a:r>
            <a:r>
              <a:rPr lang="en-US" sz="2400" dirty="0">
                <a:solidFill>
                  <a:srgbClr val="000000"/>
                </a:solidFill>
                <a:latin typeface="Vollkorn"/>
                <a:ea typeface="Vollkorn"/>
                <a:cs typeface="Vollkorn"/>
                <a:sym typeface="Vollkorn"/>
              </a:rPr>
              <a:t> Boroughs like Brooklyn and Queens have a more localized demand. While Brooklyn taxis are primarily used for commuting and residential needs, Queens caters significantly to tourists and travelers heading to the airports. These boroughs show how taxis are tailored to serve different local lifestyles.</a:t>
            </a:r>
          </a:p>
          <a:p>
            <a:pPr algn="just">
              <a:lnSpc>
                <a:spcPts val="2699"/>
              </a:lnSpc>
              <a:spcBef>
                <a:spcPct val="0"/>
              </a:spcBef>
            </a:pPr>
            <a:endParaRPr lang="en-US" sz="2400" dirty="0">
              <a:solidFill>
                <a:srgbClr val="000000"/>
              </a:solidFill>
              <a:latin typeface="Vollkorn"/>
              <a:ea typeface="Vollkorn"/>
              <a:cs typeface="Vollkorn"/>
              <a:sym typeface="Vollkorn"/>
            </a:endParaRPr>
          </a:p>
          <a:p>
            <a:pPr algn="just">
              <a:lnSpc>
                <a:spcPts val="2807"/>
              </a:lnSpc>
              <a:spcBef>
                <a:spcPct val="0"/>
              </a:spcBef>
            </a:pPr>
            <a:r>
              <a:rPr lang="en-US" sz="2400" b="1" dirty="0">
                <a:solidFill>
                  <a:srgbClr val="F8EAD4"/>
                </a:solidFill>
                <a:latin typeface="Vollkorn Bold"/>
                <a:ea typeface="Vollkorn Bold"/>
                <a:cs typeface="Vollkorn Bold"/>
                <a:sym typeface="Vollkorn Bold"/>
              </a:rPr>
              <a:t>Public vs. Private Transportation:</a:t>
            </a:r>
            <a:r>
              <a:rPr lang="en-US" sz="2400" dirty="0">
                <a:solidFill>
                  <a:srgbClr val="000000"/>
                </a:solidFill>
                <a:latin typeface="Vollkorn"/>
                <a:ea typeface="Vollkorn"/>
                <a:cs typeface="Vollkorn"/>
                <a:sym typeface="Vollkorn"/>
              </a:rPr>
              <a:t> The contrast between the Bronx and other boroughs could suggest a preference for alternative transportation options in less central areas, where taxis aren’t the primary mode of travel.</a:t>
            </a:r>
          </a:p>
        </p:txBody>
      </p:sp>
      <p:sp>
        <p:nvSpPr>
          <p:cNvPr id="10" name="TextBox 10"/>
          <p:cNvSpPr txBox="1"/>
          <p:nvPr/>
        </p:nvSpPr>
        <p:spPr>
          <a:xfrm>
            <a:off x="2039298" y="441478"/>
            <a:ext cx="14803537" cy="527004"/>
          </a:xfrm>
          <a:prstGeom prst="rect">
            <a:avLst/>
          </a:prstGeom>
        </p:spPr>
        <p:txBody>
          <a:bodyPr wrap="square" lIns="0" tIns="0" rIns="0" bIns="0" rtlCol="0" anchor="t">
            <a:spAutoFit/>
          </a:bodyPr>
          <a:lstStyle/>
          <a:p>
            <a:pPr algn="ctr">
              <a:lnSpc>
                <a:spcPts val="3995"/>
              </a:lnSpc>
              <a:spcBef>
                <a:spcPct val="0"/>
              </a:spcBef>
            </a:pPr>
            <a:r>
              <a:rPr lang="en-US" sz="3699" b="1" dirty="0">
                <a:solidFill>
                  <a:srgbClr val="F8EAD4"/>
                </a:solidFill>
                <a:latin typeface="Vollkorn Bold"/>
                <a:ea typeface="Vollkorn Bold"/>
                <a:cs typeface="Vollkorn Bold"/>
                <a:sym typeface="Vollkorn Bold"/>
              </a:rPr>
              <a:t>NYC Taxi Ride Culture: Where City Meets Speed &amp; Demand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7463B"/>
        </a:solidFill>
        <a:effectLst/>
      </p:bgPr>
    </p:bg>
    <p:spTree>
      <p:nvGrpSpPr>
        <p:cNvPr id="1" name=""/>
        <p:cNvGrpSpPr/>
        <p:nvPr/>
      </p:nvGrpSpPr>
      <p:grpSpPr>
        <a:xfrm>
          <a:off x="0" y="0"/>
          <a:ext cx="0" cy="0"/>
          <a:chOff x="0" y="0"/>
          <a:chExt cx="0" cy="0"/>
        </a:xfrm>
      </p:grpSpPr>
      <p:sp>
        <p:nvSpPr>
          <p:cNvPr id="2" name="Freeform 2"/>
          <p:cNvSpPr/>
          <p:nvPr/>
        </p:nvSpPr>
        <p:spPr>
          <a:xfrm>
            <a:off x="0" y="0"/>
            <a:ext cx="18226953" cy="10287000"/>
          </a:xfrm>
          <a:custGeom>
            <a:avLst/>
            <a:gdLst/>
            <a:ahLst/>
            <a:cxnLst/>
            <a:rect l="l" t="t" r="r" b="b"/>
            <a:pathLst>
              <a:path w="18226953" h="10287000">
                <a:moveTo>
                  <a:pt x="0" y="0"/>
                </a:moveTo>
                <a:lnTo>
                  <a:pt x="18226953" y="0"/>
                </a:lnTo>
                <a:lnTo>
                  <a:pt x="18226953" y="10287000"/>
                </a:lnTo>
                <a:lnTo>
                  <a:pt x="0" y="10287000"/>
                </a:lnTo>
                <a:lnTo>
                  <a:pt x="0" y="0"/>
                </a:lnTo>
                <a:close/>
              </a:path>
            </a:pathLst>
          </a:custGeom>
          <a:blipFill>
            <a:blip r:embed="rId3">
              <a:alphaModFix amt="5000"/>
            </a:blip>
            <a:stretch>
              <a:fillRect l="-1247" t="-54414" r="-2" b="-24982"/>
            </a:stretch>
          </a:blipFill>
        </p:spPr>
        <p:txBody>
          <a:bodyPr/>
          <a:lstStyle/>
          <a:p>
            <a:endParaRPr lang="en-US"/>
          </a:p>
        </p:txBody>
      </p:sp>
      <p:sp>
        <p:nvSpPr>
          <p:cNvPr id="3" name="Freeform 3"/>
          <p:cNvSpPr/>
          <p:nvPr/>
        </p:nvSpPr>
        <p:spPr>
          <a:xfrm>
            <a:off x="333946" y="3970259"/>
            <a:ext cx="9157405" cy="5708866"/>
          </a:xfrm>
          <a:custGeom>
            <a:avLst/>
            <a:gdLst/>
            <a:ahLst/>
            <a:cxnLst/>
            <a:rect l="l" t="t" r="r" b="b"/>
            <a:pathLst>
              <a:path w="9157405" h="5708866">
                <a:moveTo>
                  <a:pt x="0" y="0"/>
                </a:moveTo>
                <a:lnTo>
                  <a:pt x="9157405" y="0"/>
                </a:lnTo>
                <a:lnTo>
                  <a:pt x="9157405" y="5708865"/>
                </a:lnTo>
                <a:lnTo>
                  <a:pt x="0" y="5708865"/>
                </a:lnTo>
                <a:lnTo>
                  <a:pt x="0" y="0"/>
                </a:lnTo>
                <a:close/>
              </a:path>
            </a:pathLst>
          </a:custGeom>
          <a:blipFill>
            <a:blip r:embed="rId4"/>
            <a:stretch>
              <a:fillRect l="-3471"/>
            </a:stretch>
          </a:blipFill>
        </p:spPr>
        <p:txBody>
          <a:bodyPr/>
          <a:lstStyle/>
          <a:p>
            <a:endParaRPr lang="en-US"/>
          </a:p>
        </p:txBody>
      </p:sp>
      <p:grpSp>
        <p:nvGrpSpPr>
          <p:cNvPr id="4" name="Group 4"/>
          <p:cNvGrpSpPr/>
          <p:nvPr/>
        </p:nvGrpSpPr>
        <p:grpSpPr>
          <a:xfrm>
            <a:off x="2978162" y="3342357"/>
            <a:ext cx="3868972" cy="856306"/>
            <a:chOff x="0" y="0"/>
            <a:chExt cx="5158630" cy="1141741"/>
          </a:xfrm>
        </p:grpSpPr>
        <p:sp>
          <p:nvSpPr>
            <p:cNvPr id="5" name="Freeform 5"/>
            <p:cNvSpPr/>
            <p:nvPr/>
          </p:nvSpPr>
          <p:spPr>
            <a:xfrm>
              <a:off x="0" y="0"/>
              <a:ext cx="5158669" cy="1141724"/>
            </a:xfrm>
            <a:custGeom>
              <a:avLst/>
              <a:gdLst/>
              <a:ahLst/>
              <a:cxnLst/>
              <a:rect l="l" t="t" r="r" b="b"/>
              <a:pathLst>
                <a:path w="5158669" h="1141724">
                  <a:moveTo>
                    <a:pt x="0" y="0"/>
                  </a:moveTo>
                  <a:lnTo>
                    <a:pt x="5158669" y="0"/>
                  </a:lnTo>
                  <a:lnTo>
                    <a:pt x="5158669" y="1141724"/>
                  </a:lnTo>
                  <a:lnTo>
                    <a:pt x="0" y="1141724"/>
                  </a:lnTo>
                  <a:close/>
                </a:path>
              </a:pathLst>
            </a:custGeom>
            <a:solidFill>
              <a:srgbClr val="F8EAD4">
                <a:alpha val="63922"/>
              </a:srgbClr>
            </a:solidFill>
          </p:spPr>
          <p:txBody>
            <a:bodyPr/>
            <a:lstStyle/>
            <a:p>
              <a:endParaRPr lang="en-US"/>
            </a:p>
          </p:txBody>
        </p:sp>
      </p:grpSp>
      <p:sp>
        <p:nvSpPr>
          <p:cNvPr id="6" name="TextBox 6"/>
          <p:cNvSpPr txBox="1"/>
          <p:nvPr/>
        </p:nvSpPr>
        <p:spPr>
          <a:xfrm>
            <a:off x="3141537" y="523467"/>
            <a:ext cx="12699627" cy="567399"/>
          </a:xfrm>
          <a:prstGeom prst="rect">
            <a:avLst/>
          </a:prstGeom>
        </p:spPr>
        <p:txBody>
          <a:bodyPr wrap="square" lIns="0" tIns="0" rIns="0" bIns="0" rtlCol="0" anchor="t">
            <a:spAutoFit/>
          </a:bodyPr>
          <a:lstStyle/>
          <a:p>
            <a:pPr algn="ctr">
              <a:lnSpc>
                <a:spcPts val="4319"/>
              </a:lnSpc>
              <a:spcBef>
                <a:spcPct val="0"/>
              </a:spcBef>
            </a:pPr>
            <a:r>
              <a:rPr lang="en-US" sz="3999" b="1" dirty="0">
                <a:solidFill>
                  <a:srgbClr val="FCEBAB"/>
                </a:solidFill>
                <a:latin typeface="Vollkorn Bold"/>
                <a:ea typeface="Vollkorn Bold"/>
                <a:cs typeface="Vollkorn Bold"/>
                <a:sym typeface="Vollkorn Bold"/>
              </a:rPr>
              <a:t>Optimal Train/Test Data Split - KNN Model </a:t>
            </a:r>
          </a:p>
        </p:txBody>
      </p:sp>
      <p:sp>
        <p:nvSpPr>
          <p:cNvPr id="7" name="TextBox 7"/>
          <p:cNvSpPr txBox="1"/>
          <p:nvPr/>
        </p:nvSpPr>
        <p:spPr>
          <a:xfrm>
            <a:off x="493937" y="1420851"/>
            <a:ext cx="17318182" cy="1157097"/>
          </a:xfrm>
          <a:prstGeom prst="rect">
            <a:avLst/>
          </a:prstGeom>
        </p:spPr>
        <p:txBody>
          <a:bodyPr lIns="0" tIns="0" rIns="0" bIns="0" rtlCol="0" anchor="t">
            <a:spAutoFit/>
          </a:bodyPr>
          <a:lstStyle/>
          <a:p>
            <a:pPr algn="just">
              <a:lnSpc>
                <a:spcPts val="3023"/>
              </a:lnSpc>
            </a:pPr>
            <a:r>
              <a:rPr lang="en-US" sz="2799">
                <a:solidFill>
                  <a:srgbClr val="FFFFFF"/>
                </a:solidFill>
                <a:latin typeface="Vollkorn"/>
                <a:ea typeface="Vollkorn"/>
                <a:cs typeface="Vollkorn"/>
                <a:sym typeface="Vollkorn"/>
              </a:rPr>
              <a:t>The graph explores the relationship between the percentage of data used for training (versus testing) and the model’s Mean Squared Error (MSE) in the context of the k-Nearest Neighbors (k-NN) regression model. The goal is to find the optimal train/test split that minimizes prediction error while avoiding overfitting or underfitting.</a:t>
            </a:r>
          </a:p>
        </p:txBody>
      </p:sp>
      <p:sp>
        <p:nvSpPr>
          <p:cNvPr id="8" name="TextBox 8"/>
          <p:cNvSpPr txBox="1"/>
          <p:nvPr/>
        </p:nvSpPr>
        <p:spPr>
          <a:xfrm>
            <a:off x="9905900" y="2670520"/>
            <a:ext cx="8081344" cy="7861140"/>
          </a:xfrm>
          <a:prstGeom prst="rect">
            <a:avLst/>
          </a:prstGeom>
        </p:spPr>
        <p:txBody>
          <a:bodyPr lIns="0" tIns="0" rIns="0" bIns="0" rtlCol="0" anchor="t">
            <a:spAutoFit/>
          </a:bodyPr>
          <a:lstStyle/>
          <a:p>
            <a:pPr algn="just">
              <a:lnSpc>
                <a:spcPts val="3154"/>
              </a:lnSpc>
            </a:pPr>
            <a:r>
              <a:rPr lang="en-US" sz="2464" b="1">
                <a:solidFill>
                  <a:srgbClr val="FCEBAB"/>
                </a:solidFill>
                <a:latin typeface="Vollkorn Bold"/>
                <a:ea typeface="Vollkorn Bold"/>
                <a:cs typeface="Vollkorn Bold"/>
                <a:sym typeface="Vollkorn Bold"/>
              </a:rPr>
              <a:t>Undertraining Zone (&lt;70% Training Data):</a:t>
            </a:r>
          </a:p>
          <a:p>
            <a:pPr algn="just">
              <a:lnSpc>
                <a:spcPts val="3410"/>
              </a:lnSpc>
            </a:pPr>
            <a:r>
              <a:rPr lang="en-US" sz="2664">
                <a:solidFill>
                  <a:srgbClr val="FFFFFF"/>
                </a:solidFill>
                <a:latin typeface="Vollkorn"/>
                <a:ea typeface="Vollkorn"/>
                <a:cs typeface="Vollkorn"/>
                <a:sym typeface="Vollkorn"/>
              </a:rPr>
              <a:t>High MSE (~3.19), indicating underfitting. The model lacks enough data to learn patterns, leading to poor predictions.</a:t>
            </a:r>
          </a:p>
          <a:p>
            <a:pPr algn="just">
              <a:lnSpc>
                <a:spcPts val="3154"/>
              </a:lnSpc>
            </a:pPr>
            <a:endParaRPr lang="en-US" sz="2664">
              <a:solidFill>
                <a:srgbClr val="FFFFFF"/>
              </a:solidFill>
              <a:latin typeface="Vollkorn"/>
              <a:ea typeface="Vollkorn"/>
              <a:cs typeface="Vollkorn"/>
              <a:sym typeface="Vollkorn"/>
            </a:endParaRPr>
          </a:p>
          <a:p>
            <a:pPr algn="just">
              <a:lnSpc>
                <a:spcPts val="3154"/>
              </a:lnSpc>
            </a:pPr>
            <a:r>
              <a:rPr lang="en-US" sz="2464" b="1">
                <a:solidFill>
                  <a:srgbClr val="FCEBAB"/>
                </a:solidFill>
                <a:latin typeface="Vollkorn Bold"/>
                <a:ea typeface="Vollkorn Bold"/>
                <a:cs typeface="Vollkorn Bold"/>
                <a:sym typeface="Vollkorn Bold"/>
              </a:rPr>
              <a:t>Optimal Zone (70-80% Training Data):</a:t>
            </a:r>
          </a:p>
          <a:p>
            <a:pPr algn="just">
              <a:lnSpc>
                <a:spcPts val="3328"/>
              </a:lnSpc>
            </a:pPr>
            <a:r>
              <a:rPr lang="en-US" sz="2600">
                <a:solidFill>
                  <a:srgbClr val="FFFFFF"/>
                </a:solidFill>
                <a:latin typeface="Vollkorn"/>
                <a:ea typeface="Vollkorn"/>
                <a:cs typeface="Vollkorn"/>
                <a:sym typeface="Vollkorn"/>
              </a:rPr>
              <a:t>Low MSE (~0.78), where the model performs best. It has enough data to learn well without overfitting, making it reliable and generalized.</a:t>
            </a:r>
          </a:p>
          <a:p>
            <a:pPr algn="just">
              <a:lnSpc>
                <a:spcPts val="3154"/>
              </a:lnSpc>
            </a:pPr>
            <a:endParaRPr lang="en-US" sz="2600">
              <a:solidFill>
                <a:srgbClr val="FFFFFF"/>
              </a:solidFill>
              <a:latin typeface="Vollkorn"/>
              <a:ea typeface="Vollkorn"/>
              <a:cs typeface="Vollkorn"/>
              <a:sym typeface="Vollkorn"/>
            </a:endParaRPr>
          </a:p>
          <a:p>
            <a:pPr algn="just">
              <a:lnSpc>
                <a:spcPts val="3154"/>
              </a:lnSpc>
            </a:pPr>
            <a:r>
              <a:rPr lang="en-US" sz="2464" b="1">
                <a:solidFill>
                  <a:srgbClr val="FCEBAB"/>
                </a:solidFill>
                <a:latin typeface="Vollkorn Bold"/>
                <a:ea typeface="Vollkorn Bold"/>
                <a:cs typeface="Vollkorn Bold"/>
                <a:sym typeface="Vollkorn Bold"/>
              </a:rPr>
              <a:t>Overfitting Zone (&gt;90% Training Data):</a:t>
            </a:r>
          </a:p>
          <a:p>
            <a:pPr algn="just">
              <a:lnSpc>
                <a:spcPts val="3328"/>
              </a:lnSpc>
            </a:pPr>
            <a:r>
              <a:rPr lang="en-US" sz="2600">
                <a:solidFill>
                  <a:srgbClr val="FFFFFF"/>
                </a:solidFill>
                <a:latin typeface="Vollkorn"/>
                <a:ea typeface="Vollkorn"/>
                <a:cs typeface="Vollkorn"/>
                <a:sym typeface="Vollkorn"/>
              </a:rPr>
              <a:t>Slight increase in MSE (~0.88), signaling overfitting. The model becomes too tailored to the training data, capturing noise and reducing its ability to generalize to new data.</a:t>
            </a:r>
          </a:p>
          <a:p>
            <a:pPr algn="just">
              <a:lnSpc>
                <a:spcPts val="3154"/>
              </a:lnSpc>
            </a:pPr>
            <a:endParaRPr lang="en-US" sz="2600">
              <a:solidFill>
                <a:srgbClr val="FFFFFF"/>
              </a:solidFill>
              <a:latin typeface="Vollkorn"/>
              <a:ea typeface="Vollkorn"/>
              <a:cs typeface="Vollkorn"/>
              <a:sym typeface="Vollkorn"/>
            </a:endParaRPr>
          </a:p>
          <a:p>
            <a:pPr algn="just">
              <a:lnSpc>
                <a:spcPts val="3328"/>
              </a:lnSpc>
            </a:pPr>
            <a:r>
              <a:rPr lang="en-US" sz="2600">
                <a:solidFill>
                  <a:srgbClr val="FFFFFF"/>
                </a:solidFill>
                <a:latin typeface="Vollkorn"/>
                <a:ea typeface="Vollkorn"/>
                <a:cs typeface="Vollkorn"/>
                <a:sym typeface="Vollkorn"/>
              </a:rPr>
              <a:t>In short, 70-80% training data strikes the best balance for accurate and generalized predictions.</a:t>
            </a:r>
          </a:p>
          <a:p>
            <a:pPr algn="just">
              <a:lnSpc>
                <a:spcPts val="3285"/>
              </a:lnSpc>
            </a:pPr>
            <a:endParaRPr lang="en-US" sz="2600">
              <a:solidFill>
                <a:srgbClr val="FFFFFF"/>
              </a:solidFill>
              <a:latin typeface="Vollkorn"/>
              <a:ea typeface="Vollkorn"/>
              <a:cs typeface="Vollkorn"/>
              <a:sym typeface="Vollkor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alphaModFix amt="14100"/>
            </a:blip>
            <a:stretch>
              <a:fillRect t="-76328" b="-1448"/>
            </a:stretch>
          </a:blipFill>
        </p:spPr>
        <p:txBody>
          <a:bodyPr/>
          <a:lstStyle/>
          <a:p>
            <a:endParaRPr lang="en-US"/>
          </a:p>
        </p:txBody>
      </p:sp>
      <p:grpSp>
        <p:nvGrpSpPr>
          <p:cNvPr id="3" name="Group 3"/>
          <p:cNvGrpSpPr/>
          <p:nvPr/>
        </p:nvGrpSpPr>
        <p:grpSpPr>
          <a:xfrm>
            <a:off x="399772" y="399774"/>
            <a:ext cx="17488455" cy="9487450"/>
            <a:chOff x="0" y="0"/>
            <a:chExt cx="23317940" cy="12649934"/>
          </a:xfrm>
        </p:grpSpPr>
        <p:sp>
          <p:nvSpPr>
            <p:cNvPr id="4" name="Freeform 4"/>
            <p:cNvSpPr/>
            <p:nvPr/>
          </p:nvSpPr>
          <p:spPr>
            <a:xfrm>
              <a:off x="0" y="0"/>
              <a:ext cx="23317963" cy="12649962"/>
            </a:xfrm>
            <a:custGeom>
              <a:avLst/>
              <a:gdLst/>
              <a:ahLst/>
              <a:cxnLst/>
              <a:rect l="l" t="t" r="r" b="b"/>
              <a:pathLst>
                <a:path w="23317963" h="12649962">
                  <a:moveTo>
                    <a:pt x="38100" y="0"/>
                  </a:moveTo>
                  <a:lnTo>
                    <a:pt x="23279863" y="0"/>
                  </a:lnTo>
                  <a:cubicBezTo>
                    <a:pt x="23300945" y="0"/>
                    <a:pt x="23317963" y="17018"/>
                    <a:pt x="23317963" y="38100"/>
                  </a:cubicBezTo>
                  <a:lnTo>
                    <a:pt x="23317963" y="12611862"/>
                  </a:lnTo>
                  <a:cubicBezTo>
                    <a:pt x="23317963" y="12632944"/>
                    <a:pt x="23300945" y="12649962"/>
                    <a:pt x="23279863" y="12649962"/>
                  </a:cubicBezTo>
                  <a:lnTo>
                    <a:pt x="38100" y="12649962"/>
                  </a:lnTo>
                  <a:cubicBezTo>
                    <a:pt x="17018" y="12649962"/>
                    <a:pt x="0" y="12632944"/>
                    <a:pt x="0" y="12611862"/>
                  </a:cubicBezTo>
                  <a:lnTo>
                    <a:pt x="0" y="38100"/>
                  </a:lnTo>
                  <a:cubicBezTo>
                    <a:pt x="0" y="17018"/>
                    <a:pt x="17018" y="0"/>
                    <a:pt x="38100" y="0"/>
                  </a:cubicBezTo>
                  <a:moveTo>
                    <a:pt x="38100" y="76200"/>
                  </a:moveTo>
                  <a:lnTo>
                    <a:pt x="38100" y="38100"/>
                  </a:lnTo>
                  <a:lnTo>
                    <a:pt x="76200" y="38100"/>
                  </a:lnTo>
                  <a:lnTo>
                    <a:pt x="76200" y="12611862"/>
                  </a:lnTo>
                  <a:lnTo>
                    <a:pt x="38100" y="12611862"/>
                  </a:lnTo>
                  <a:lnTo>
                    <a:pt x="38100" y="12573762"/>
                  </a:lnTo>
                  <a:lnTo>
                    <a:pt x="23279863" y="12573762"/>
                  </a:lnTo>
                  <a:lnTo>
                    <a:pt x="23279863" y="12611862"/>
                  </a:lnTo>
                  <a:lnTo>
                    <a:pt x="23241763" y="12611862"/>
                  </a:lnTo>
                  <a:lnTo>
                    <a:pt x="23241763" y="38100"/>
                  </a:lnTo>
                  <a:lnTo>
                    <a:pt x="23279863" y="38100"/>
                  </a:lnTo>
                  <a:lnTo>
                    <a:pt x="23279863" y="76200"/>
                  </a:lnTo>
                  <a:lnTo>
                    <a:pt x="38100" y="76200"/>
                  </a:lnTo>
                  <a:close/>
                </a:path>
              </a:pathLst>
            </a:custGeom>
            <a:solidFill>
              <a:srgbClr val="446777"/>
            </a:solidFill>
          </p:spPr>
          <p:txBody>
            <a:bodyPr/>
            <a:lstStyle/>
            <a:p>
              <a:endParaRPr lang="en-US"/>
            </a:p>
          </p:txBody>
        </p:sp>
      </p:grpSp>
      <p:sp>
        <p:nvSpPr>
          <p:cNvPr id="5" name="Freeform 5"/>
          <p:cNvSpPr/>
          <p:nvPr/>
        </p:nvSpPr>
        <p:spPr>
          <a:xfrm>
            <a:off x="11084754" y="2914412"/>
            <a:ext cx="2391763" cy="2903907"/>
          </a:xfrm>
          <a:custGeom>
            <a:avLst/>
            <a:gdLst/>
            <a:ahLst/>
            <a:cxnLst/>
            <a:rect l="l" t="t" r="r" b="b"/>
            <a:pathLst>
              <a:path w="2391763" h="2903907">
                <a:moveTo>
                  <a:pt x="0" y="0"/>
                </a:moveTo>
                <a:lnTo>
                  <a:pt x="2391763" y="0"/>
                </a:lnTo>
                <a:lnTo>
                  <a:pt x="2391763" y="2903907"/>
                </a:lnTo>
                <a:lnTo>
                  <a:pt x="0" y="29039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1648622" y="5143500"/>
            <a:ext cx="2648141" cy="1073701"/>
          </a:xfrm>
          <a:custGeom>
            <a:avLst/>
            <a:gdLst/>
            <a:ahLst/>
            <a:cxnLst/>
            <a:rect l="l" t="t" r="r" b="b"/>
            <a:pathLst>
              <a:path w="2648141" h="1073701">
                <a:moveTo>
                  <a:pt x="0" y="0"/>
                </a:moveTo>
                <a:lnTo>
                  <a:pt x="2648141" y="0"/>
                </a:lnTo>
                <a:lnTo>
                  <a:pt x="2648141" y="1073701"/>
                </a:lnTo>
                <a:lnTo>
                  <a:pt x="0" y="10737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3295337" y="4349601"/>
            <a:ext cx="8153399" cy="1718547"/>
          </a:xfrm>
          <a:prstGeom prst="rect">
            <a:avLst/>
          </a:prstGeom>
        </p:spPr>
        <p:txBody>
          <a:bodyPr wrap="square" lIns="0" tIns="0" rIns="0" bIns="0" rtlCol="0" anchor="t">
            <a:spAutoFit/>
          </a:bodyPr>
          <a:lstStyle/>
          <a:p>
            <a:pPr algn="ctr">
              <a:lnSpc>
                <a:spcPts val="13404"/>
              </a:lnSpc>
              <a:spcBef>
                <a:spcPct val="0"/>
              </a:spcBef>
            </a:pPr>
            <a:r>
              <a:rPr lang="en-US" sz="11170" dirty="0">
                <a:solidFill>
                  <a:srgbClr val="446777"/>
                </a:solidFill>
                <a:latin typeface="Vollkorn"/>
                <a:ea typeface="Vollkorn"/>
                <a:cs typeface="Vollkorn"/>
                <a:sym typeface="Vollkor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1367</Words>
  <Application>Microsoft Office PowerPoint</Application>
  <PresentationFormat>Custom</PresentationFormat>
  <Paragraphs>195</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Vollkorn</vt:lpstr>
      <vt:lpstr>Calibri</vt:lpstr>
      <vt:lpstr>Cooper BT Light</vt:lpstr>
      <vt:lpstr>Vollkorn Semi-Bold</vt:lpstr>
      <vt:lpstr>Vollkorn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PRACTICUM 3</dc:title>
  <cp:lastModifiedBy>Nidhi Nityanand Uchil</cp:lastModifiedBy>
  <cp:revision>4</cp:revision>
  <dcterms:created xsi:type="dcterms:W3CDTF">2006-08-16T00:00:00Z</dcterms:created>
  <dcterms:modified xsi:type="dcterms:W3CDTF">2025-04-17T22:51:18Z</dcterms:modified>
  <dc:identifier>DAGku1f-Rjs</dc:identifier>
</cp:coreProperties>
</file>